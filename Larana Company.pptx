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Open Sauce Bold" charset="1" panose="00000800000000000000"/>
      <p:regular r:id="rId20"/>
    </p:embeddedFont>
    <p:embeddedFont>
      <p:font typeface="Open Sauce Light Italics" charset="1" panose="00000400000000000000"/>
      <p:regular r:id="rId21"/>
    </p:embeddedFont>
    <p:embeddedFont>
      <p:font typeface="Open Sauce Light" charset="1" panose="00000400000000000000"/>
      <p:regular r:id="rId22"/>
    </p:embeddedFont>
    <p:embeddedFont>
      <p:font typeface="Open Sans Bold Italics" charset="1" panose="020B0806030504020204"/>
      <p:regular r:id="rId23"/>
    </p:embeddedFont>
    <p:embeddedFont>
      <p:font typeface="Open Sans Bold" charset="1" panose="020B0806030504020204"/>
      <p:regular r:id="rId24"/>
    </p:embeddedFont>
    <p:embeddedFont>
      <p:font typeface="Open Sans" charset="1" panose="020B0606030504020204"/>
      <p:regular r:id="rId25"/>
    </p:embeddedFont>
    <p:embeddedFont>
      <p:font typeface="Open Sauce" charset="1" panose="00000500000000000000"/>
      <p:regular r:id="rId26"/>
    </p:embeddedFont>
    <p:embeddedFont>
      <p:font typeface="DM Sans Bold Italics" charset="1" panose="00000000000000000000"/>
      <p:regular r:id="rId27"/>
    </p:embeddedFont>
    <p:embeddedFont>
      <p:font typeface="DM Sans Italics" charset="1" panose="000000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F3129"/>
        </a:solidFill>
      </p:bgPr>
    </p:bg>
    <p:spTree>
      <p:nvGrpSpPr>
        <p:cNvPr id="1" name=""/>
        <p:cNvGrpSpPr/>
        <p:nvPr/>
      </p:nvGrpSpPr>
      <p:grpSpPr>
        <a:xfrm>
          <a:off x="0" y="0"/>
          <a:ext cx="0" cy="0"/>
          <a:chOff x="0" y="0"/>
          <a:chExt cx="0" cy="0"/>
        </a:xfrm>
      </p:grpSpPr>
      <p:grpSp>
        <p:nvGrpSpPr>
          <p:cNvPr name="Group 2" id="2"/>
          <p:cNvGrpSpPr/>
          <p:nvPr/>
        </p:nvGrpSpPr>
        <p:grpSpPr>
          <a:xfrm rot="0">
            <a:off x="1499488" y="54412"/>
            <a:ext cx="14375588" cy="11819883"/>
            <a:chOff x="0" y="0"/>
            <a:chExt cx="19167451" cy="15759844"/>
          </a:xfrm>
        </p:grpSpPr>
        <p:sp>
          <p:nvSpPr>
            <p:cNvPr name="AutoShape 3" id="3"/>
            <p:cNvSpPr/>
            <p:nvPr/>
          </p:nvSpPr>
          <p:spPr>
            <a:xfrm flipV="true">
              <a:off x="12700" y="0"/>
              <a:ext cx="0" cy="15759844"/>
            </a:xfrm>
            <a:prstGeom prst="line">
              <a:avLst/>
            </a:prstGeom>
            <a:ln cap="flat" w="25400">
              <a:solidFill>
                <a:srgbClr val="079E5A">
                  <a:alpha val="11765"/>
                </a:srgbClr>
              </a:solidFill>
              <a:prstDash val="solid"/>
              <a:headEnd type="none" len="sm" w="sm"/>
              <a:tailEnd type="none" len="sm" w="sm"/>
            </a:ln>
          </p:spPr>
        </p:sp>
        <p:sp>
          <p:nvSpPr>
            <p:cNvPr name="AutoShape 4" id="4"/>
            <p:cNvSpPr/>
            <p:nvPr/>
          </p:nvSpPr>
          <p:spPr>
            <a:xfrm flipV="true">
              <a:off x="1752886" y="0"/>
              <a:ext cx="0" cy="15759844"/>
            </a:xfrm>
            <a:prstGeom prst="line">
              <a:avLst/>
            </a:prstGeom>
            <a:ln cap="flat" w="25400">
              <a:solidFill>
                <a:srgbClr val="079E5A">
                  <a:alpha val="11765"/>
                </a:srgbClr>
              </a:solidFill>
              <a:prstDash val="solid"/>
              <a:headEnd type="none" len="sm" w="sm"/>
              <a:tailEnd type="none" len="sm" w="sm"/>
            </a:ln>
          </p:spPr>
        </p:sp>
        <p:sp>
          <p:nvSpPr>
            <p:cNvPr name="AutoShape 5" id="5"/>
            <p:cNvSpPr/>
            <p:nvPr/>
          </p:nvSpPr>
          <p:spPr>
            <a:xfrm flipV="true">
              <a:off x="3493073" y="0"/>
              <a:ext cx="0" cy="15759844"/>
            </a:xfrm>
            <a:prstGeom prst="line">
              <a:avLst/>
            </a:prstGeom>
            <a:ln cap="flat" w="25400">
              <a:solidFill>
                <a:srgbClr val="079E5A">
                  <a:alpha val="11765"/>
                </a:srgbClr>
              </a:solidFill>
              <a:prstDash val="solid"/>
              <a:headEnd type="none" len="sm" w="sm"/>
              <a:tailEnd type="none" len="sm" w="sm"/>
            </a:ln>
          </p:spPr>
        </p:sp>
        <p:sp>
          <p:nvSpPr>
            <p:cNvPr name="AutoShape 6" id="6"/>
            <p:cNvSpPr/>
            <p:nvPr/>
          </p:nvSpPr>
          <p:spPr>
            <a:xfrm flipV="true">
              <a:off x="5233259" y="0"/>
              <a:ext cx="0" cy="15759844"/>
            </a:xfrm>
            <a:prstGeom prst="line">
              <a:avLst/>
            </a:prstGeom>
            <a:ln cap="flat" w="25400">
              <a:solidFill>
                <a:srgbClr val="079E5A">
                  <a:alpha val="11765"/>
                </a:srgbClr>
              </a:solidFill>
              <a:prstDash val="solid"/>
              <a:headEnd type="none" len="sm" w="sm"/>
              <a:tailEnd type="none" len="sm" w="sm"/>
            </a:ln>
          </p:spPr>
        </p:sp>
        <p:sp>
          <p:nvSpPr>
            <p:cNvPr name="AutoShape 7" id="7"/>
            <p:cNvSpPr/>
            <p:nvPr/>
          </p:nvSpPr>
          <p:spPr>
            <a:xfrm flipV="true">
              <a:off x="6973446" y="0"/>
              <a:ext cx="0" cy="15759844"/>
            </a:xfrm>
            <a:prstGeom prst="line">
              <a:avLst/>
            </a:prstGeom>
            <a:ln cap="flat" w="25400">
              <a:solidFill>
                <a:srgbClr val="079E5A">
                  <a:alpha val="11765"/>
                </a:srgbClr>
              </a:solidFill>
              <a:prstDash val="solid"/>
              <a:headEnd type="none" len="sm" w="sm"/>
              <a:tailEnd type="none" len="sm" w="sm"/>
            </a:ln>
          </p:spPr>
        </p:sp>
        <p:sp>
          <p:nvSpPr>
            <p:cNvPr name="AutoShape 8" id="8"/>
            <p:cNvSpPr/>
            <p:nvPr/>
          </p:nvSpPr>
          <p:spPr>
            <a:xfrm flipV="true">
              <a:off x="8713632" y="0"/>
              <a:ext cx="0" cy="15759844"/>
            </a:xfrm>
            <a:prstGeom prst="line">
              <a:avLst/>
            </a:prstGeom>
            <a:ln cap="flat" w="25400">
              <a:solidFill>
                <a:srgbClr val="079E5A">
                  <a:alpha val="11765"/>
                </a:srgbClr>
              </a:solidFill>
              <a:prstDash val="solid"/>
              <a:headEnd type="none" len="sm" w="sm"/>
              <a:tailEnd type="none" len="sm" w="sm"/>
            </a:ln>
          </p:spPr>
        </p:sp>
        <p:sp>
          <p:nvSpPr>
            <p:cNvPr name="AutoShape 9" id="9"/>
            <p:cNvSpPr/>
            <p:nvPr/>
          </p:nvSpPr>
          <p:spPr>
            <a:xfrm flipV="true">
              <a:off x="10453819" y="0"/>
              <a:ext cx="0" cy="15759844"/>
            </a:xfrm>
            <a:prstGeom prst="line">
              <a:avLst/>
            </a:prstGeom>
            <a:ln cap="flat" w="25400">
              <a:solidFill>
                <a:srgbClr val="079E5A">
                  <a:alpha val="11765"/>
                </a:srgbClr>
              </a:solidFill>
              <a:prstDash val="solid"/>
              <a:headEnd type="none" len="sm" w="sm"/>
              <a:tailEnd type="none" len="sm" w="sm"/>
            </a:ln>
          </p:spPr>
        </p:sp>
        <p:sp>
          <p:nvSpPr>
            <p:cNvPr name="AutoShape 10" id="10"/>
            <p:cNvSpPr/>
            <p:nvPr/>
          </p:nvSpPr>
          <p:spPr>
            <a:xfrm flipV="true">
              <a:off x="12194005" y="0"/>
              <a:ext cx="0" cy="15759844"/>
            </a:xfrm>
            <a:prstGeom prst="line">
              <a:avLst/>
            </a:prstGeom>
            <a:ln cap="flat" w="25400">
              <a:solidFill>
                <a:srgbClr val="079E5A">
                  <a:alpha val="11765"/>
                </a:srgbClr>
              </a:solidFill>
              <a:prstDash val="solid"/>
              <a:headEnd type="none" len="sm" w="sm"/>
              <a:tailEnd type="none" len="sm" w="sm"/>
            </a:ln>
          </p:spPr>
        </p:sp>
        <p:sp>
          <p:nvSpPr>
            <p:cNvPr name="AutoShape 11" id="11"/>
            <p:cNvSpPr/>
            <p:nvPr/>
          </p:nvSpPr>
          <p:spPr>
            <a:xfrm flipV="true">
              <a:off x="13934192" y="0"/>
              <a:ext cx="0" cy="15759844"/>
            </a:xfrm>
            <a:prstGeom prst="line">
              <a:avLst/>
            </a:prstGeom>
            <a:ln cap="flat" w="25400">
              <a:solidFill>
                <a:srgbClr val="079E5A">
                  <a:alpha val="11765"/>
                </a:srgbClr>
              </a:solidFill>
              <a:prstDash val="solid"/>
              <a:headEnd type="none" len="sm" w="sm"/>
              <a:tailEnd type="none" len="sm" w="sm"/>
            </a:ln>
          </p:spPr>
        </p:sp>
        <p:sp>
          <p:nvSpPr>
            <p:cNvPr name="AutoShape 12" id="12"/>
            <p:cNvSpPr/>
            <p:nvPr/>
          </p:nvSpPr>
          <p:spPr>
            <a:xfrm flipV="true">
              <a:off x="15674378" y="0"/>
              <a:ext cx="0" cy="15759844"/>
            </a:xfrm>
            <a:prstGeom prst="line">
              <a:avLst/>
            </a:prstGeom>
            <a:ln cap="flat" w="25400">
              <a:solidFill>
                <a:srgbClr val="079E5A">
                  <a:alpha val="11765"/>
                </a:srgbClr>
              </a:solidFill>
              <a:prstDash val="solid"/>
              <a:headEnd type="none" len="sm" w="sm"/>
              <a:tailEnd type="none" len="sm" w="sm"/>
            </a:ln>
          </p:spPr>
        </p:sp>
        <p:sp>
          <p:nvSpPr>
            <p:cNvPr name="AutoShape 13" id="13"/>
            <p:cNvSpPr/>
            <p:nvPr/>
          </p:nvSpPr>
          <p:spPr>
            <a:xfrm flipV="true">
              <a:off x="17414564" y="0"/>
              <a:ext cx="0" cy="15759844"/>
            </a:xfrm>
            <a:prstGeom prst="line">
              <a:avLst/>
            </a:prstGeom>
            <a:ln cap="flat" w="25400">
              <a:solidFill>
                <a:srgbClr val="079E5A">
                  <a:alpha val="11765"/>
                </a:srgbClr>
              </a:solidFill>
              <a:prstDash val="solid"/>
              <a:headEnd type="none" len="sm" w="sm"/>
              <a:tailEnd type="none" len="sm" w="sm"/>
            </a:ln>
          </p:spPr>
        </p:sp>
        <p:sp>
          <p:nvSpPr>
            <p:cNvPr name="AutoShape 14" id="14"/>
            <p:cNvSpPr/>
            <p:nvPr/>
          </p:nvSpPr>
          <p:spPr>
            <a:xfrm flipV="true">
              <a:off x="19154751" y="0"/>
              <a:ext cx="0" cy="15759844"/>
            </a:xfrm>
            <a:prstGeom prst="line">
              <a:avLst/>
            </a:prstGeom>
            <a:ln cap="flat" w="25400">
              <a:solidFill>
                <a:srgbClr val="079E5A">
                  <a:alpha val="11765"/>
                </a:srgbClr>
              </a:solidFill>
              <a:prstDash val="solid"/>
              <a:headEnd type="none" len="sm" w="sm"/>
              <a:tailEnd type="none" len="sm" w="sm"/>
            </a:ln>
          </p:spPr>
        </p:sp>
      </p:grpSp>
      <p:grpSp>
        <p:nvGrpSpPr>
          <p:cNvPr name="Group 15" id="15"/>
          <p:cNvGrpSpPr/>
          <p:nvPr/>
        </p:nvGrpSpPr>
        <p:grpSpPr>
          <a:xfrm rot="0">
            <a:off x="7307417" y="2995489"/>
            <a:ext cx="18945897" cy="1894589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9801897" y="-11317517"/>
            <a:ext cx="18945897" cy="1894589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0">
            <a:off x="3553922" y="5467314"/>
            <a:ext cx="3753494" cy="1129703"/>
            <a:chOff x="0" y="0"/>
            <a:chExt cx="988575" cy="297535"/>
          </a:xfrm>
        </p:grpSpPr>
        <p:sp>
          <p:nvSpPr>
            <p:cNvPr name="Freeform 22" id="22"/>
            <p:cNvSpPr/>
            <p:nvPr/>
          </p:nvSpPr>
          <p:spPr>
            <a:xfrm flipH="false" flipV="false" rot="0">
              <a:off x="0" y="0"/>
              <a:ext cx="988575" cy="297535"/>
            </a:xfrm>
            <a:custGeom>
              <a:avLst/>
              <a:gdLst/>
              <a:ahLst/>
              <a:cxnLst/>
              <a:rect r="r" b="b" t="t" l="l"/>
              <a:pathLst>
                <a:path h="297535" w="988575">
                  <a:moveTo>
                    <a:pt x="148767" y="0"/>
                  </a:moveTo>
                  <a:lnTo>
                    <a:pt x="839807" y="0"/>
                  </a:lnTo>
                  <a:cubicBezTo>
                    <a:pt x="921969" y="0"/>
                    <a:pt x="988575" y="66605"/>
                    <a:pt x="988575" y="148767"/>
                  </a:cubicBezTo>
                  <a:lnTo>
                    <a:pt x="988575" y="148767"/>
                  </a:lnTo>
                  <a:cubicBezTo>
                    <a:pt x="988575" y="230929"/>
                    <a:pt x="921969" y="297535"/>
                    <a:pt x="839807" y="297535"/>
                  </a:cubicBezTo>
                  <a:lnTo>
                    <a:pt x="148767" y="297535"/>
                  </a:lnTo>
                  <a:cubicBezTo>
                    <a:pt x="66605" y="297535"/>
                    <a:pt x="0" y="230929"/>
                    <a:pt x="0" y="148767"/>
                  </a:cubicBezTo>
                  <a:lnTo>
                    <a:pt x="0" y="148767"/>
                  </a:lnTo>
                  <a:cubicBezTo>
                    <a:pt x="0" y="66605"/>
                    <a:pt x="66605" y="0"/>
                    <a:pt x="148767" y="0"/>
                  </a:cubicBezTo>
                  <a:close/>
                </a:path>
              </a:pathLst>
            </a:custGeom>
            <a:gradFill rotWithShape="true">
              <a:gsLst>
                <a:gs pos="0">
                  <a:srgbClr val="0B0918">
                    <a:alpha val="100000"/>
                  </a:srgbClr>
                </a:gs>
                <a:gs pos="100000">
                  <a:srgbClr val="0B0918">
                    <a:alpha val="0"/>
                  </a:srgbClr>
                </a:gs>
              </a:gsLst>
              <a:lin ang="0"/>
            </a:gradFill>
            <a:ln w="9525" cap="rnd">
              <a:solidFill>
                <a:srgbClr val="079E5A"/>
              </a:solidFill>
              <a:prstDash val="solid"/>
              <a:round/>
            </a:ln>
          </p:spPr>
        </p:sp>
        <p:sp>
          <p:nvSpPr>
            <p:cNvPr name="TextBox 23" id="23"/>
            <p:cNvSpPr txBox="true"/>
            <p:nvPr/>
          </p:nvSpPr>
          <p:spPr>
            <a:xfrm>
              <a:off x="0" y="-38100"/>
              <a:ext cx="988575" cy="335635"/>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832966" y="5411256"/>
            <a:ext cx="3160229" cy="1160838"/>
            <a:chOff x="0" y="0"/>
            <a:chExt cx="832324" cy="305735"/>
          </a:xfrm>
        </p:grpSpPr>
        <p:sp>
          <p:nvSpPr>
            <p:cNvPr name="Freeform 25" id="25"/>
            <p:cNvSpPr/>
            <p:nvPr/>
          </p:nvSpPr>
          <p:spPr>
            <a:xfrm flipH="false" flipV="false" rot="0">
              <a:off x="0" y="0"/>
              <a:ext cx="832324" cy="305735"/>
            </a:xfrm>
            <a:custGeom>
              <a:avLst/>
              <a:gdLst/>
              <a:ahLst/>
              <a:cxnLst/>
              <a:rect r="r" b="b" t="t" l="l"/>
              <a:pathLst>
                <a:path h="305735" w="832324">
                  <a:moveTo>
                    <a:pt x="152868" y="0"/>
                  </a:moveTo>
                  <a:lnTo>
                    <a:pt x="679456" y="0"/>
                  </a:lnTo>
                  <a:cubicBezTo>
                    <a:pt x="763883" y="0"/>
                    <a:pt x="832324" y="68441"/>
                    <a:pt x="832324" y="152868"/>
                  </a:cubicBezTo>
                  <a:lnTo>
                    <a:pt x="832324" y="152868"/>
                  </a:lnTo>
                  <a:cubicBezTo>
                    <a:pt x="832324" y="237294"/>
                    <a:pt x="763883" y="305735"/>
                    <a:pt x="679456" y="305735"/>
                  </a:cubicBezTo>
                  <a:lnTo>
                    <a:pt x="152868" y="305735"/>
                  </a:lnTo>
                  <a:cubicBezTo>
                    <a:pt x="68441" y="305735"/>
                    <a:pt x="0" y="237294"/>
                    <a:pt x="0" y="152868"/>
                  </a:cubicBezTo>
                  <a:lnTo>
                    <a:pt x="0" y="152868"/>
                  </a:lnTo>
                  <a:cubicBezTo>
                    <a:pt x="0" y="68441"/>
                    <a:pt x="68441" y="0"/>
                    <a:pt x="152868" y="0"/>
                  </a:cubicBezTo>
                  <a:close/>
                </a:path>
              </a:pathLst>
            </a:custGeom>
            <a:gradFill rotWithShape="true">
              <a:gsLst>
                <a:gs pos="0">
                  <a:srgbClr val="FFFFFF">
                    <a:alpha val="100000"/>
                  </a:srgbClr>
                </a:gs>
                <a:gs pos="100000">
                  <a:srgbClr val="8D8D8D">
                    <a:alpha val="100000"/>
                  </a:srgbClr>
                </a:gs>
              </a:gsLst>
              <a:path path="circle">
                <a:fillToRect l="0" r="100000" t="0" b="100000"/>
              </a:path>
              <a:tileRect r="0" l="-100000" b="0" t="-100000"/>
            </a:gradFill>
            <a:ln w="9525" cap="rnd">
              <a:solidFill>
                <a:srgbClr val="079E5A"/>
              </a:solidFill>
              <a:prstDash val="solid"/>
              <a:round/>
            </a:ln>
          </p:spPr>
        </p:sp>
        <p:sp>
          <p:nvSpPr>
            <p:cNvPr name="TextBox 26" id="26"/>
            <p:cNvSpPr txBox="true"/>
            <p:nvPr/>
          </p:nvSpPr>
          <p:spPr>
            <a:xfrm>
              <a:off x="0" y="-38100"/>
              <a:ext cx="832324" cy="343835"/>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false" flipV="false" rot="0">
            <a:off x="9607323" y="451031"/>
            <a:ext cx="8455203" cy="6863779"/>
          </a:xfrm>
          <a:custGeom>
            <a:avLst/>
            <a:gdLst/>
            <a:ahLst/>
            <a:cxnLst/>
            <a:rect r="r" b="b" t="t" l="l"/>
            <a:pathLst>
              <a:path h="6863779" w="8455203">
                <a:moveTo>
                  <a:pt x="0" y="0"/>
                </a:moveTo>
                <a:lnTo>
                  <a:pt x="8455204" y="0"/>
                </a:lnTo>
                <a:lnTo>
                  <a:pt x="8455204" y="6863778"/>
                </a:lnTo>
                <a:lnTo>
                  <a:pt x="0" y="6863778"/>
                </a:lnTo>
                <a:lnTo>
                  <a:pt x="0" y="0"/>
                </a:lnTo>
                <a:close/>
              </a:path>
            </a:pathLst>
          </a:custGeom>
          <a:blipFill>
            <a:blip r:embed="rId2"/>
            <a:stretch>
              <a:fillRect l="0" t="0" r="0" b="0"/>
            </a:stretch>
          </a:blipFill>
        </p:spPr>
      </p:sp>
      <p:sp>
        <p:nvSpPr>
          <p:cNvPr name="TextBox 28" id="28"/>
          <p:cNvSpPr txBox="true"/>
          <p:nvPr/>
        </p:nvSpPr>
        <p:spPr>
          <a:xfrm rot="0">
            <a:off x="1028700" y="1914543"/>
            <a:ext cx="9869736" cy="1968377"/>
          </a:xfrm>
          <a:prstGeom prst="rect">
            <a:avLst/>
          </a:prstGeom>
        </p:spPr>
        <p:txBody>
          <a:bodyPr anchor="t" rtlCol="false" tIns="0" lIns="0" bIns="0" rIns="0">
            <a:spAutoFit/>
          </a:bodyPr>
          <a:lstStyle/>
          <a:p>
            <a:pPr algn="l" marL="0" indent="0" lvl="0">
              <a:lnSpc>
                <a:spcPts val="14727"/>
              </a:lnSpc>
            </a:pPr>
            <a:r>
              <a:rPr lang="en-US" b="true" sz="14876" spc="-892">
                <a:gradFill>
                  <a:gsLst>
                    <a:gs pos="0">
                      <a:srgbClr val="FFFFFF">
                        <a:alpha val="100000"/>
                      </a:srgbClr>
                    </a:gs>
                    <a:gs pos="100000">
                      <a:srgbClr val="8D8D8D">
                        <a:alpha val="100000"/>
                      </a:srgbClr>
                    </a:gs>
                  </a:gsLst>
                  <a:path path="circle">
                    <a:fillToRect l="0" r="100000" t="0" b="100000"/>
                  </a:path>
                  <a:tileRect r="0" l="-100000" b="0" t="-100000"/>
                </a:gradFill>
                <a:latin typeface="Open Sauce Bold"/>
                <a:ea typeface="Open Sauce Bold"/>
                <a:cs typeface="Open Sauce Bold"/>
                <a:sym typeface="Open Sauce Bold"/>
              </a:rPr>
              <a:t>NeoStock</a:t>
            </a:r>
          </a:p>
        </p:txBody>
      </p:sp>
      <p:sp>
        <p:nvSpPr>
          <p:cNvPr name="TextBox 29" id="29"/>
          <p:cNvSpPr txBox="true"/>
          <p:nvPr/>
        </p:nvSpPr>
        <p:spPr>
          <a:xfrm rot="0">
            <a:off x="724222" y="7207653"/>
            <a:ext cx="6929330" cy="1211199"/>
          </a:xfrm>
          <a:prstGeom prst="rect">
            <a:avLst/>
          </a:prstGeom>
        </p:spPr>
        <p:txBody>
          <a:bodyPr anchor="t" rtlCol="false" tIns="0" lIns="0" bIns="0" rIns="0">
            <a:spAutoFit/>
          </a:bodyPr>
          <a:lstStyle/>
          <a:p>
            <a:pPr algn="l">
              <a:lnSpc>
                <a:spcPts val="2448"/>
              </a:lnSpc>
            </a:pPr>
            <a:r>
              <a:rPr lang="en-US" sz="1800" i="true" spc="-98">
                <a:gradFill>
                  <a:gsLst>
                    <a:gs pos="0">
                      <a:srgbClr val="C6D1DF">
                        <a:alpha val="100000"/>
                      </a:srgbClr>
                    </a:gs>
                    <a:gs pos="100000">
                      <a:srgbClr val="E4EAF1">
                        <a:alpha val="100000"/>
                      </a:srgbClr>
                    </a:gs>
                  </a:gsLst>
                  <a:lin ang="0"/>
                </a:gradFill>
                <a:latin typeface="Open Sauce Light Italics"/>
                <a:ea typeface="Open Sauce Light Italics"/>
                <a:cs typeface="Open Sauce Light Italics"/>
                <a:sym typeface="Open Sauce Light Italics"/>
              </a:rPr>
              <a:t>NeoStock is an AI-powered stock management solution designed to help businesses monitor inventory, analyze sales data, identify slow- and fast-moving products, and receive intelligent recommendations to improve stock management and business decisions.</a:t>
            </a:r>
          </a:p>
        </p:txBody>
      </p:sp>
      <p:sp>
        <p:nvSpPr>
          <p:cNvPr name="TextBox 30" id="30"/>
          <p:cNvSpPr txBox="true"/>
          <p:nvPr/>
        </p:nvSpPr>
        <p:spPr>
          <a:xfrm rot="0">
            <a:off x="930833" y="5844356"/>
            <a:ext cx="2964495" cy="389889"/>
          </a:xfrm>
          <a:prstGeom prst="rect">
            <a:avLst/>
          </a:prstGeom>
        </p:spPr>
        <p:txBody>
          <a:bodyPr anchor="t" rtlCol="false" tIns="0" lIns="0" bIns="0" rIns="0">
            <a:spAutoFit/>
          </a:bodyPr>
          <a:lstStyle/>
          <a:p>
            <a:pPr algn="ctr">
              <a:lnSpc>
                <a:spcPts val="2719"/>
              </a:lnSpc>
            </a:pPr>
            <a:r>
              <a:rPr lang="en-US" sz="3199" spc="-175">
                <a:solidFill>
                  <a:srgbClr val="1E1543"/>
                </a:solidFill>
                <a:latin typeface="Open Sauce Light"/>
                <a:ea typeface="Open Sauce Light"/>
                <a:cs typeface="Open Sauce Light"/>
                <a:sym typeface="Open Sauce Light"/>
              </a:rPr>
              <a:t>Presented by :</a:t>
            </a:r>
          </a:p>
        </p:txBody>
      </p:sp>
      <p:sp>
        <p:nvSpPr>
          <p:cNvPr name="TextBox 31" id="31"/>
          <p:cNvSpPr txBox="true"/>
          <p:nvPr/>
        </p:nvSpPr>
        <p:spPr>
          <a:xfrm rot="0">
            <a:off x="832966" y="9186965"/>
            <a:ext cx="15559193" cy="637844"/>
          </a:xfrm>
          <a:prstGeom prst="rect">
            <a:avLst/>
          </a:prstGeom>
        </p:spPr>
        <p:txBody>
          <a:bodyPr anchor="t" rtlCol="false" tIns="0" lIns="0" bIns="0" rIns="0">
            <a:spAutoFit/>
          </a:bodyPr>
          <a:lstStyle/>
          <a:p>
            <a:pPr algn="l">
              <a:lnSpc>
                <a:spcPts val="4585"/>
              </a:lnSpc>
            </a:pPr>
            <a:r>
              <a:rPr lang="en-US" sz="5394" spc="-296" b="true">
                <a:solidFill>
                  <a:srgbClr val="FFFFFF"/>
                </a:solidFill>
                <a:latin typeface="Open Sauce Bold"/>
                <a:ea typeface="Open Sauce Bold"/>
                <a:cs typeface="Open Sauce Bold"/>
                <a:sym typeface="Open Sauce Bold"/>
              </a:rPr>
              <a:t>hackthon-store-dashbord.pages.dev</a:t>
            </a:r>
          </a:p>
        </p:txBody>
      </p:sp>
      <p:sp>
        <p:nvSpPr>
          <p:cNvPr name="TextBox 32" id="32"/>
          <p:cNvSpPr txBox="true"/>
          <p:nvPr/>
        </p:nvSpPr>
        <p:spPr>
          <a:xfrm rot="0">
            <a:off x="3477960" y="6288586"/>
            <a:ext cx="3905418" cy="261842"/>
          </a:xfrm>
          <a:prstGeom prst="rect">
            <a:avLst/>
          </a:prstGeom>
        </p:spPr>
        <p:txBody>
          <a:bodyPr anchor="t" rtlCol="false" tIns="0" lIns="0" bIns="0" rIns="0">
            <a:spAutoFit/>
          </a:bodyPr>
          <a:lstStyle/>
          <a:p>
            <a:pPr algn="ctr">
              <a:lnSpc>
                <a:spcPts val="1979"/>
              </a:lnSpc>
            </a:pPr>
            <a:r>
              <a:rPr lang="en-US" b="true" sz="2329" spc="-128">
                <a:solidFill>
                  <a:srgbClr val="FFFFFF"/>
                </a:solidFill>
                <a:latin typeface="Open Sauce Bold"/>
                <a:ea typeface="Open Sauce Bold"/>
                <a:cs typeface="Open Sauce Bold"/>
                <a:sym typeface="Open Sauce Bold"/>
              </a:rPr>
              <a:t>Chahine Askri</a:t>
            </a:r>
          </a:p>
        </p:txBody>
      </p:sp>
      <p:sp>
        <p:nvSpPr>
          <p:cNvPr name="TextBox 33" id="33"/>
          <p:cNvSpPr txBox="true"/>
          <p:nvPr/>
        </p:nvSpPr>
        <p:spPr>
          <a:xfrm rot="0">
            <a:off x="3477960" y="5553863"/>
            <a:ext cx="3905418" cy="505878"/>
          </a:xfrm>
          <a:prstGeom prst="rect">
            <a:avLst/>
          </a:prstGeom>
        </p:spPr>
        <p:txBody>
          <a:bodyPr anchor="t" rtlCol="false" tIns="0" lIns="0" bIns="0" rIns="0">
            <a:spAutoFit/>
          </a:bodyPr>
          <a:lstStyle/>
          <a:p>
            <a:pPr algn="ctr">
              <a:lnSpc>
                <a:spcPts val="1979"/>
              </a:lnSpc>
            </a:pPr>
            <a:r>
              <a:rPr lang="en-US" b="true" sz="2329" spc="-128">
                <a:solidFill>
                  <a:srgbClr val="FFFFFF"/>
                </a:solidFill>
                <a:latin typeface="Open Sauce Bold"/>
                <a:ea typeface="Open Sauce Bold"/>
                <a:cs typeface="Open Sauce Bold"/>
                <a:sym typeface="Open Sauce Bold"/>
              </a:rPr>
              <a:t>Wael Saadallah</a:t>
            </a:r>
          </a:p>
          <a:p>
            <a:pPr algn="ctr">
              <a:lnSpc>
                <a:spcPts val="1979"/>
              </a:lnSpc>
            </a:pPr>
          </a:p>
        </p:txBody>
      </p:sp>
      <p:sp>
        <p:nvSpPr>
          <p:cNvPr name="TextBox 34" id="34"/>
          <p:cNvSpPr txBox="true"/>
          <p:nvPr/>
        </p:nvSpPr>
        <p:spPr>
          <a:xfrm rot="0">
            <a:off x="3477960" y="5971683"/>
            <a:ext cx="3905418" cy="261842"/>
          </a:xfrm>
          <a:prstGeom prst="rect">
            <a:avLst/>
          </a:prstGeom>
        </p:spPr>
        <p:txBody>
          <a:bodyPr anchor="t" rtlCol="false" tIns="0" lIns="0" bIns="0" rIns="0">
            <a:spAutoFit/>
          </a:bodyPr>
          <a:lstStyle/>
          <a:p>
            <a:pPr algn="ctr">
              <a:lnSpc>
                <a:spcPts val="1979"/>
              </a:lnSpc>
            </a:pPr>
            <a:r>
              <a:rPr lang="en-US" b="true" sz="2329" spc="-128">
                <a:solidFill>
                  <a:srgbClr val="FFFFFF"/>
                </a:solidFill>
                <a:latin typeface="Open Sauce Bold"/>
                <a:ea typeface="Open Sauce Bold"/>
                <a:cs typeface="Open Sauce Bold"/>
                <a:sym typeface="Open Sauce Bold"/>
              </a:rPr>
              <a:t>Yosri Rais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F3129"/>
        </a:solidFill>
      </p:bgPr>
    </p:bg>
    <p:spTree>
      <p:nvGrpSpPr>
        <p:cNvPr id="1" name=""/>
        <p:cNvGrpSpPr/>
        <p:nvPr/>
      </p:nvGrpSpPr>
      <p:grpSpPr>
        <a:xfrm>
          <a:off x="0" y="0"/>
          <a:ext cx="0" cy="0"/>
          <a:chOff x="0" y="0"/>
          <a:chExt cx="0" cy="0"/>
        </a:xfrm>
      </p:grpSpPr>
      <p:grpSp>
        <p:nvGrpSpPr>
          <p:cNvPr name="Group 2" id="2"/>
          <p:cNvGrpSpPr/>
          <p:nvPr/>
        </p:nvGrpSpPr>
        <p:grpSpPr>
          <a:xfrm rot="0">
            <a:off x="1956206" y="-766442"/>
            <a:ext cx="14375588" cy="11819883"/>
            <a:chOff x="0" y="0"/>
            <a:chExt cx="19167451" cy="15759844"/>
          </a:xfrm>
        </p:grpSpPr>
        <p:sp>
          <p:nvSpPr>
            <p:cNvPr name="AutoShape 3" id="3"/>
            <p:cNvSpPr/>
            <p:nvPr/>
          </p:nvSpPr>
          <p:spPr>
            <a:xfrm flipV="true">
              <a:off x="12700" y="0"/>
              <a:ext cx="0" cy="15759844"/>
            </a:xfrm>
            <a:prstGeom prst="line">
              <a:avLst/>
            </a:prstGeom>
            <a:ln cap="flat" w="25400">
              <a:solidFill>
                <a:srgbClr val="079E5A">
                  <a:alpha val="11765"/>
                </a:srgbClr>
              </a:solidFill>
              <a:prstDash val="solid"/>
              <a:headEnd type="none" len="sm" w="sm"/>
              <a:tailEnd type="none" len="sm" w="sm"/>
            </a:ln>
          </p:spPr>
        </p:sp>
        <p:sp>
          <p:nvSpPr>
            <p:cNvPr name="AutoShape 4" id="4"/>
            <p:cNvSpPr/>
            <p:nvPr/>
          </p:nvSpPr>
          <p:spPr>
            <a:xfrm flipV="true">
              <a:off x="1752886" y="0"/>
              <a:ext cx="0" cy="15759844"/>
            </a:xfrm>
            <a:prstGeom prst="line">
              <a:avLst/>
            </a:prstGeom>
            <a:ln cap="flat" w="25400">
              <a:solidFill>
                <a:srgbClr val="079E5A">
                  <a:alpha val="11765"/>
                </a:srgbClr>
              </a:solidFill>
              <a:prstDash val="solid"/>
              <a:headEnd type="none" len="sm" w="sm"/>
              <a:tailEnd type="none" len="sm" w="sm"/>
            </a:ln>
          </p:spPr>
        </p:sp>
        <p:sp>
          <p:nvSpPr>
            <p:cNvPr name="AutoShape 5" id="5"/>
            <p:cNvSpPr/>
            <p:nvPr/>
          </p:nvSpPr>
          <p:spPr>
            <a:xfrm flipV="true">
              <a:off x="3493073" y="0"/>
              <a:ext cx="0" cy="15759844"/>
            </a:xfrm>
            <a:prstGeom prst="line">
              <a:avLst/>
            </a:prstGeom>
            <a:ln cap="flat" w="25400">
              <a:solidFill>
                <a:srgbClr val="079E5A">
                  <a:alpha val="11765"/>
                </a:srgbClr>
              </a:solidFill>
              <a:prstDash val="solid"/>
              <a:headEnd type="none" len="sm" w="sm"/>
              <a:tailEnd type="none" len="sm" w="sm"/>
            </a:ln>
          </p:spPr>
        </p:sp>
        <p:sp>
          <p:nvSpPr>
            <p:cNvPr name="AutoShape 6" id="6"/>
            <p:cNvSpPr/>
            <p:nvPr/>
          </p:nvSpPr>
          <p:spPr>
            <a:xfrm flipV="true">
              <a:off x="5233259" y="0"/>
              <a:ext cx="0" cy="15759844"/>
            </a:xfrm>
            <a:prstGeom prst="line">
              <a:avLst/>
            </a:prstGeom>
            <a:ln cap="flat" w="25400">
              <a:solidFill>
                <a:srgbClr val="079E5A">
                  <a:alpha val="11765"/>
                </a:srgbClr>
              </a:solidFill>
              <a:prstDash val="solid"/>
              <a:headEnd type="none" len="sm" w="sm"/>
              <a:tailEnd type="none" len="sm" w="sm"/>
            </a:ln>
          </p:spPr>
        </p:sp>
        <p:sp>
          <p:nvSpPr>
            <p:cNvPr name="AutoShape 7" id="7"/>
            <p:cNvSpPr/>
            <p:nvPr/>
          </p:nvSpPr>
          <p:spPr>
            <a:xfrm flipV="true">
              <a:off x="6973446" y="0"/>
              <a:ext cx="0" cy="15759844"/>
            </a:xfrm>
            <a:prstGeom prst="line">
              <a:avLst/>
            </a:prstGeom>
            <a:ln cap="flat" w="25400">
              <a:solidFill>
                <a:srgbClr val="079E5A">
                  <a:alpha val="11765"/>
                </a:srgbClr>
              </a:solidFill>
              <a:prstDash val="solid"/>
              <a:headEnd type="none" len="sm" w="sm"/>
              <a:tailEnd type="none" len="sm" w="sm"/>
            </a:ln>
          </p:spPr>
        </p:sp>
        <p:sp>
          <p:nvSpPr>
            <p:cNvPr name="AutoShape 8" id="8"/>
            <p:cNvSpPr/>
            <p:nvPr/>
          </p:nvSpPr>
          <p:spPr>
            <a:xfrm flipV="true">
              <a:off x="8713632" y="0"/>
              <a:ext cx="0" cy="15759844"/>
            </a:xfrm>
            <a:prstGeom prst="line">
              <a:avLst/>
            </a:prstGeom>
            <a:ln cap="flat" w="25400">
              <a:solidFill>
                <a:srgbClr val="079E5A">
                  <a:alpha val="11765"/>
                </a:srgbClr>
              </a:solidFill>
              <a:prstDash val="solid"/>
              <a:headEnd type="none" len="sm" w="sm"/>
              <a:tailEnd type="none" len="sm" w="sm"/>
            </a:ln>
          </p:spPr>
        </p:sp>
        <p:sp>
          <p:nvSpPr>
            <p:cNvPr name="AutoShape 9" id="9"/>
            <p:cNvSpPr/>
            <p:nvPr/>
          </p:nvSpPr>
          <p:spPr>
            <a:xfrm flipV="true">
              <a:off x="10453819" y="0"/>
              <a:ext cx="0" cy="15759844"/>
            </a:xfrm>
            <a:prstGeom prst="line">
              <a:avLst/>
            </a:prstGeom>
            <a:ln cap="flat" w="25400">
              <a:solidFill>
                <a:srgbClr val="079E5A">
                  <a:alpha val="11765"/>
                </a:srgbClr>
              </a:solidFill>
              <a:prstDash val="solid"/>
              <a:headEnd type="none" len="sm" w="sm"/>
              <a:tailEnd type="none" len="sm" w="sm"/>
            </a:ln>
          </p:spPr>
        </p:sp>
        <p:sp>
          <p:nvSpPr>
            <p:cNvPr name="AutoShape 10" id="10"/>
            <p:cNvSpPr/>
            <p:nvPr/>
          </p:nvSpPr>
          <p:spPr>
            <a:xfrm flipV="true">
              <a:off x="12194005" y="0"/>
              <a:ext cx="0" cy="15759844"/>
            </a:xfrm>
            <a:prstGeom prst="line">
              <a:avLst/>
            </a:prstGeom>
            <a:ln cap="flat" w="25400">
              <a:solidFill>
                <a:srgbClr val="079E5A">
                  <a:alpha val="11765"/>
                </a:srgbClr>
              </a:solidFill>
              <a:prstDash val="solid"/>
              <a:headEnd type="none" len="sm" w="sm"/>
              <a:tailEnd type="none" len="sm" w="sm"/>
            </a:ln>
          </p:spPr>
        </p:sp>
        <p:sp>
          <p:nvSpPr>
            <p:cNvPr name="AutoShape 11" id="11"/>
            <p:cNvSpPr/>
            <p:nvPr/>
          </p:nvSpPr>
          <p:spPr>
            <a:xfrm flipV="true">
              <a:off x="13934192" y="0"/>
              <a:ext cx="0" cy="15759844"/>
            </a:xfrm>
            <a:prstGeom prst="line">
              <a:avLst/>
            </a:prstGeom>
            <a:ln cap="flat" w="25400">
              <a:solidFill>
                <a:srgbClr val="079E5A">
                  <a:alpha val="11765"/>
                </a:srgbClr>
              </a:solidFill>
              <a:prstDash val="solid"/>
              <a:headEnd type="none" len="sm" w="sm"/>
              <a:tailEnd type="none" len="sm" w="sm"/>
            </a:ln>
          </p:spPr>
        </p:sp>
        <p:sp>
          <p:nvSpPr>
            <p:cNvPr name="AutoShape 12" id="12"/>
            <p:cNvSpPr/>
            <p:nvPr/>
          </p:nvSpPr>
          <p:spPr>
            <a:xfrm flipV="true">
              <a:off x="15674378" y="0"/>
              <a:ext cx="0" cy="15759844"/>
            </a:xfrm>
            <a:prstGeom prst="line">
              <a:avLst/>
            </a:prstGeom>
            <a:ln cap="flat" w="25400">
              <a:solidFill>
                <a:srgbClr val="079E5A">
                  <a:alpha val="11765"/>
                </a:srgbClr>
              </a:solidFill>
              <a:prstDash val="solid"/>
              <a:headEnd type="none" len="sm" w="sm"/>
              <a:tailEnd type="none" len="sm" w="sm"/>
            </a:ln>
          </p:spPr>
        </p:sp>
        <p:sp>
          <p:nvSpPr>
            <p:cNvPr name="AutoShape 13" id="13"/>
            <p:cNvSpPr/>
            <p:nvPr/>
          </p:nvSpPr>
          <p:spPr>
            <a:xfrm flipV="true">
              <a:off x="17414564" y="0"/>
              <a:ext cx="0" cy="15759844"/>
            </a:xfrm>
            <a:prstGeom prst="line">
              <a:avLst/>
            </a:prstGeom>
            <a:ln cap="flat" w="25400">
              <a:solidFill>
                <a:srgbClr val="079E5A">
                  <a:alpha val="11765"/>
                </a:srgbClr>
              </a:solidFill>
              <a:prstDash val="solid"/>
              <a:headEnd type="none" len="sm" w="sm"/>
              <a:tailEnd type="none" len="sm" w="sm"/>
            </a:ln>
          </p:spPr>
        </p:sp>
        <p:sp>
          <p:nvSpPr>
            <p:cNvPr name="AutoShape 14" id="14"/>
            <p:cNvSpPr/>
            <p:nvPr/>
          </p:nvSpPr>
          <p:spPr>
            <a:xfrm flipV="true">
              <a:off x="19154751" y="0"/>
              <a:ext cx="0" cy="15759844"/>
            </a:xfrm>
            <a:prstGeom prst="line">
              <a:avLst/>
            </a:prstGeom>
            <a:ln cap="flat" w="25400">
              <a:solidFill>
                <a:srgbClr val="079E5A">
                  <a:alpha val="11765"/>
                </a:srgbClr>
              </a:solidFill>
              <a:prstDash val="solid"/>
              <a:headEnd type="none" len="sm" w="sm"/>
              <a:tailEnd type="none" len="sm" w="sm"/>
            </a:ln>
          </p:spPr>
        </p:sp>
      </p:grpSp>
      <p:grpSp>
        <p:nvGrpSpPr>
          <p:cNvPr name="Group 15" id="15"/>
          <p:cNvGrpSpPr/>
          <p:nvPr/>
        </p:nvGrpSpPr>
        <p:grpSpPr>
          <a:xfrm rot="0">
            <a:off x="7345543" y="3169477"/>
            <a:ext cx="18945897" cy="1894589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0342028" y="-11457159"/>
            <a:ext cx="18945897" cy="1894589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645143" y="1269715"/>
            <a:ext cx="16865458" cy="7747570"/>
          </a:xfrm>
          <a:custGeom>
            <a:avLst/>
            <a:gdLst/>
            <a:ahLst/>
            <a:cxnLst/>
            <a:rect r="r" b="b" t="t" l="l"/>
            <a:pathLst>
              <a:path h="7747570" w="16865458">
                <a:moveTo>
                  <a:pt x="0" y="0"/>
                </a:moveTo>
                <a:lnTo>
                  <a:pt x="16865458" y="0"/>
                </a:lnTo>
                <a:lnTo>
                  <a:pt x="16865458" y="7747570"/>
                </a:lnTo>
                <a:lnTo>
                  <a:pt x="0" y="7747570"/>
                </a:lnTo>
                <a:lnTo>
                  <a:pt x="0" y="0"/>
                </a:lnTo>
                <a:close/>
              </a:path>
            </a:pathLst>
          </a:custGeom>
          <a:blipFill>
            <a:blip r:embed="rId2"/>
            <a:stretch>
              <a:fillRect l="0" t="0" r="0" b="0"/>
            </a:stretch>
          </a:blipFill>
        </p:spPr>
      </p:sp>
      <p:sp>
        <p:nvSpPr>
          <p:cNvPr name="TextBox 22" id="22"/>
          <p:cNvSpPr txBox="true"/>
          <p:nvPr/>
        </p:nvSpPr>
        <p:spPr>
          <a:xfrm rot="0">
            <a:off x="6154317" y="10382"/>
            <a:ext cx="5847110" cy="787998"/>
          </a:xfrm>
          <a:prstGeom prst="rect">
            <a:avLst/>
          </a:prstGeom>
        </p:spPr>
        <p:txBody>
          <a:bodyPr anchor="t" rtlCol="false" tIns="0" lIns="0" bIns="0" rIns="0">
            <a:spAutoFit/>
          </a:bodyPr>
          <a:lstStyle/>
          <a:p>
            <a:pPr algn="ctr">
              <a:lnSpc>
                <a:spcPts val="6475"/>
              </a:lnSpc>
              <a:spcBef>
                <a:spcPct val="0"/>
              </a:spcBef>
            </a:pPr>
            <a:r>
              <a:rPr lang="en-US" b="true" sz="4625" i="true">
                <a:solidFill>
                  <a:srgbClr val="FFFFFF"/>
                </a:solidFill>
                <a:latin typeface="Open Sans Bold Italics"/>
                <a:ea typeface="Open Sans Bold Italics"/>
                <a:cs typeface="Open Sans Bold Italics"/>
                <a:sym typeface="Open Sans Bold Italics"/>
              </a:rPr>
              <a:t>landing page</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1F3129"/>
        </a:solidFill>
      </p:bgPr>
    </p:bg>
    <p:spTree>
      <p:nvGrpSpPr>
        <p:cNvPr id="1" name=""/>
        <p:cNvGrpSpPr/>
        <p:nvPr/>
      </p:nvGrpSpPr>
      <p:grpSpPr>
        <a:xfrm>
          <a:off x="0" y="0"/>
          <a:ext cx="0" cy="0"/>
          <a:chOff x="0" y="0"/>
          <a:chExt cx="0" cy="0"/>
        </a:xfrm>
      </p:grpSpPr>
      <p:grpSp>
        <p:nvGrpSpPr>
          <p:cNvPr name="Group 2" id="2"/>
          <p:cNvGrpSpPr/>
          <p:nvPr/>
        </p:nvGrpSpPr>
        <p:grpSpPr>
          <a:xfrm rot="0">
            <a:off x="1633258" y="-674171"/>
            <a:ext cx="14375588" cy="11819883"/>
            <a:chOff x="0" y="0"/>
            <a:chExt cx="19167451" cy="15759844"/>
          </a:xfrm>
        </p:grpSpPr>
        <p:sp>
          <p:nvSpPr>
            <p:cNvPr name="AutoShape 3" id="3"/>
            <p:cNvSpPr/>
            <p:nvPr/>
          </p:nvSpPr>
          <p:spPr>
            <a:xfrm flipV="true">
              <a:off x="12700" y="0"/>
              <a:ext cx="0" cy="15759844"/>
            </a:xfrm>
            <a:prstGeom prst="line">
              <a:avLst/>
            </a:prstGeom>
            <a:ln cap="flat" w="25400">
              <a:solidFill>
                <a:srgbClr val="079E5A">
                  <a:alpha val="11765"/>
                </a:srgbClr>
              </a:solidFill>
              <a:prstDash val="solid"/>
              <a:headEnd type="none" len="sm" w="sm"/>
              <a:tailEnd type="none" len="sm" w="sm"/>
            </a:ln>
          </p:spPr>
        </p:sp>
        <p:sp>
          <p:nvSpPr>
            <p:cNvPr name="AutoShape 4" id="4"/>
            <p:cNvSpPr/>
            <p:nvPr/>
          </p:nvSpPr>
          <p:spPr>
            <a:xfrm flipV="true">
              <a:off x="1752886" y="0"/>
              <a:ext cx="0" cy="15759844"/>
            </a:xfrm>
            <a:prstGeom prst="line">
              <a:avLst/>
            </a:prstGeom>
            <a:ln cap="flat" w="25400">
              <a:solidFill>
                <a:srgbClr val="079E5A">
                  <a:alpha val="11765"/>
                </a:srgbClr>
              </a:solidFill>
              <a:prstDash val="solid"/>
              <a:headEnd type="none" len="sm" w="sm"/>
              <a:tailEnd type="none" len="sm" w="sm"/>
            </a:ln>
          </p:spPr>
        </p:sp>
        <p:sp>
          <p:nvSpPr>
            <p:cNvPr name="AutoShape 5" id="5"/>
            <p:cNvSpPr/>
            <p:nvPr/>
          </p:nvSpPr>
          <p:spPr>
            <a:xfrm flipV="true">
              <a:off x="3493073" y="0"/>
              <a:ext cx="0" cy="15759844"/>
            </a:xfrm>
            <a:prstGeom prst="line">
              <a:avLst/>
            </a:prstGeom>
            <a:ln cap="flat" w="25400">
              <a:solidFill>
                <a:srgbClr val="079E5A">
                  <a:alpha val="11765"/>
                </a:srgbClr>
              </a:solidFill>
              <a:prstDash val="solid"/>
              <a:headEnd type="none" len="sm" w="sm"/>
              <a:tailEnd type="none" len="sm" w="sm"/>
            </a:ln>
          </p:spPr>
        </p:sp>
        <p:sp>
          <p:nvSpPr>
            <p:cNvPr name="AutoShape 6" id="6"/>
            <p:cNvSpPr/>
            <p:nvPr/>
          </p:nvSpPr>
          <p:spPr>
            <a:xfrm flipV="true">
              <a:off x="5233259" y="0"/>
              <a:ext cx="0" cy="15759844"/>
            </a:xfrm>
            <a:prstGeom prst="line">
              <a:avLst/>
            </a:prstGeom>
            <a:ln cap="flat" w="25400">
              <a:solidFill>
                <a:srgbClr val="079E5A">
                  <a:alpha val="11765"/>
                </a:srgbClr>
              </a:solidFill>
              <a:prstDash val="solid"/>
              <a:headEnd type="none" len="sm" w="sm"/>
              <a:tailEnd type="none" len="sm" w="sm"/>
            </a:ln>
          </p:spPr>
        </p:sp>
        <p:sp>
          <p:nvSpPr>
            <p:cNvPr name="AutoShape 7" id="7"/>
            <p:cNvSpPr/>
            <p:nvPr/>
          </p:nvSpPr>
          <p:spPr>
            <a:xfrm flipV="true">
              <a:off x="6973446" y="0"/>
              <a:ext cx="0" cy="15759844"/>
            </a:xfrm>
            <a:prstGeom prst="line">
              <a:avLst/>
            </a:prstGeom>
            <a:ln cap="flat" w="25400">
              <a:solidFill>
                <a:srgbClr val="079E5A">
                  <a:alpha val="11765"/>
                </a:srgbClr>
              </a:solidFill>
              <a:prstDash val="solid"/>
              <a:headEnd type="none" len="sm" w="sm"/>
              <a:tailEnd type="none" len="sm" w="sm"/>
            </a:ln>
          </p:spPr>
        </p:sp>
        <p:sp>
          <p:nvSpPr>
            <p:cNvPr name="AutoShape 8" id="8"/>
            <p:cNvSpPr/>
            <p:nvPr/>
          </p:nvSpPr>
          <p:spPr>
            <a:xfrm flipV="true">
              <a:off x="8713632" y="0"/>
              <a:ext cx="0" cy="15759844"/>
            </a:xfrm>
            <a:prstGeom prst="line">
              <a:avLst/>
            </a:prstGeom>
            <a:ln cap="flat" w="25400">
              <a:solidFill>
                <a:srgbClr val="079E5A">
                  <a:alpha val="11765"/>
                </a:srgbClr>
              </a:solidFill>
              <a:prstDash val="solid"/>
              <a:headEnd type="none" len="sm" w="sm"/>
              <a:tailEnd type="none" len="sm" w="sm"/>
            </a:ln>
          </p:spPr>
        </p:sp>
        <p:sp>
          <p:nvSpPr>
            <p:cNvPr name="AutoShape 9" id="9"/>
            <p:cNvSpPr/>
            <p:nvPr/>
          </p:nvSpPr>
          <p:spPr>
            <a:xfrm flipV="true">
              <a:off x="10453819" y="0"/>
              <a:ext cx="0" cy="15759844"/>
            </a:xfrm>
            <a:prstGeom prst="line">
              <a:avLst/>
            </a:prstGeom>
            <a:ln cap="flat" w="25400">
              <a:solidFill>
                <a:srgbClr val="079E5A">
                  <a:alpha val="11765"/>
                </a:srgbClr>
              </a:solidFill>
              <a:prstDash val="solid"/>
              <a:headEnd type="none" len="sm" w="sm"/>
              <a:tailEnd type="none" len="sm" w="sm"/>
            </a:ln>
          </p:spPr>
        </p:sp>
        <p:sp>
          <p:nvSpPr>
            <p:cNvPr name="AutoShape 10" id="10"/>
            <p:cNvSpPr/>
            <p:nvPr/>
          </p:nvSpPr>
          <p:spPr>
            <a:xfrm flipV="true">
              <a:off x="12194005" y="0"/>
              <a:ext cx="0" cy="15759844"/>
            </a:xfrm>
            <a:prstGeom prst="line">
              <a:avLst/>
            </a:prstGeom>
            <a:ln cap="flat" w="25400">
              <a:solidFill>
                <a:srgbClr val="079E5A">
                  <a:alpha val="11765"/>
                </a:srgbClr>
              </a:solidFill>
              <a:prstDash val="solid"/>
              <a:headEnd type="none" len="sm" w="sm"/>
              <a:tailEnd type="none" len="sm" w="sm"/>
            </a:ln>
          </p:spPr>
        </p:sp>
        <p:sp>
          <p:nvSpPr>
            <p:cNvPr name="AutoShape 11" id="11"/>
            <p:cNvSpPr/>
            <p:nvPr/>
          </p:nvSpPr>
          <p:spPr>
            <a:xfrm flipV="true">
              <a:off x="13934192" y="0"/>
              <a:ext cx="0" cy="15759844"/>
            </a:xfrm>
            <a:prstGeom prst="line">
              <a:avLst/>
            </a:prstGeom>
            <a:ln cap="flat" w="25400">
              <a:solidFill>
                <a:srgbClr val="079E5A">
                  <a:alpha val="11765"/>
                </a:srgbClr>
              </a:solidFill>
              <a:prstDash val="solid"/>
              <a:headEnd type="none" len="sm" w="sm"/>
              <a:tailEnd type="none" len="sm" w="sm"/>
            </a:ln>
          </p:spPr>
        </p:sp>
        <p:sp>
          <p:nvSpPr>
            <p:cNvPr name="AutoShape 12" id="12"/>
            <p:cNvSpPr/>
            <p:nvPr/>
          </p:nvSpPr>
          <p:spPr>
            <a:xfrm flipV="true">
              <a:off x="15674378" y="0"/>
              <a:ext cx="0" cy="15759844"/>
            </a:xfrm>
            <a:prstGeom prst="line">
              <a:avLst/>
            </a:prstGeom>
            <a:ln cap="flat" w="25400">
              <a:solidFill>
                <a:srgbClr val="079E5A">
                  <a:alpha val="11765"/>
                </a:srgbClr>
              </a:solidFill>
              <a:prstDash val="solid"/>
              <a:headEnd type="none" len="sm" w="sm"/>
              <a:tailEnd type="none" len="sm" w="sm"/>
            </a:ln>
          </p:spPr>
        </p:sp>
        <p:sp>
          <p:nvSpPr>
            <p:cNvPr name="AutoShape 13" id="13"/>
            <p:cNvSpPr/>
            <p:nvPr/>
          </p:nvSpPr>
          <p:spPr>
            <a:xfrm flipV="true">
              <a:off x="17414564" y="0"/>
              <a:ext cx="0" cy="15759844"/>
            </a:xfrm>
            <a:prstGeom prst="line">
              <a:avLst/>
            </a:prstGeom>
            <a:ln cap="flat" w="25400">
              <a:solidFill>
                <a:srgbClr val="079E5A">
                  <a:alpha val="11765"/>
                </a:srgbClr>
              </a:solidFill>
              <a:prstDash val="solid"/>
              <a:headEnd type="none" len="sm" w="sm"/>
              <a:tailEnd type="none" len="sm" w="sm"/>
            </a:ln>
          </p:spPr>
        </p:sp>
        <p:sp>
          <p:nvSpPr>
            <p:cNvPr name="AutoShape 14" id="14"/>
            <p:cNvSpPr/>
            <p:nvPr/>
          </p:nvSpPr>
          <p:spPr>
            <a:xfrm flipV="true">
              <a:off x="19154751" y="0"/>
              <a:ext cx="0" cy="15759844"/>
            </a:xfrm>
            <a:prstGeom prst="line">
              <a:avLst/>
            </a:prstGeom>
            <a:ln cap="flat" w="25400">
              <a:solidFill>
                <a:srgbClr val="079E5A">
                  <a:alpha val="11765"/>
                </a:srgbClr>
              </a:solidFill>
              <a:prstDash val="solid"/>
              <a:headEnd type="none" len="sm" w="sm"/>
              <a:tailEnd type="none" len="sm" w="sm"/>
            </a:ln>
          </p:spPr>
        </p:sp>
      </p:grpSp>
      <p:grpSp>
        <p:nvGrpSpPr>
          <p:cNvPr name="Group 15" id="15"/>
          <p:cNvGrpSpPr/>
          <p:nvPr/>
        </p:nvGrpSpPr>
        <p:grpSpPr>
          <a:xfrm rot="0">
            <a:off x="7345543" y="3169477"/>
            <a:ext cx="18945897" cy="1894589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0342028" y="-11457159"/>
            <a:ext cx="18945897" cy="1894589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21" id="21"/>
          <p:cNvSpPr txBox="true"/>
          <p:nvPr/>
        </p:nvSpPr>
        <p:spPr>
          <a:xfrm rot="0">
            <a:off x="1010211" y="234808"/>
            <a:ext cx="7062860" cy="1206441"/>
          </a:xfrm>
          <a:prstGeom prst="rect">
            <a:avLst/>
          </a:prstGeom>
        </p:spPr>
        <p:txBody>
          <a:bodyPr anchor="t" rtlCol="false" tIns="0" lIns="0" bIns="0" rIns="0">
            <a:spAutoFit/>
          </a:bodyPr>
          <a:lstStyle/>
          <a:p>
            <a:pPr algn="ctr">
              <a:lnSpc>
                <a:spcPts val="9806"/>
              </a:lnSpc>
              <a:spcBef>
                <a:spcPct val="0"/>
              </a:spcBef>
            </a:pPr>
            <a:r>
              <a:rPr lang="en-US" b="true" sz="7004" i="true">
                <a:solidFill>
                  <a:srgbClr val="FFFFFF"/>
                </a:solidFill>
                <a:latin typeface="Open Sans Bold Italics"/>
                <a:ea typeface="Open Sans Bold Italics"/>
                <a:cs typeface="Open Sans Bold Italics"/>
                <a:sym typeface="Open Sans Bold Italics"/>
              </a:rPr>
              <a:t>the main story :</a:t>
            </a:r>
          </a:p>
        </p:txBody>
      </p:sp>
      <p:sp>
        <p:nvSpPr>
          <p:cNvPr name="TextBox 22" id="22"/>
          <p:cNvSpPr txBox="true"/>
          <p:nvPr/>
        </p:nvSpPr>
        <p:spPr>
          <a:xfrm rot="0">
            <a:off x="309530" y="2596345"/>
            <a:ext cx="17668940" cy="5221702"/>
          </a:xfrm>
          <a:prstGeom prst="rect">
            <a:avLst/>
          </a:prstGeom>
        </p:spPr>
        <p:txBody>
          <a:bodyPr anchor="t" rtlCol="false" tIns="0" lIns="0" bIns="0" rIns="0">
            <a:spAutoFit/>
          </a:bodyPr>
          <a:lstStyle/>
          <a:p>
            <a:pPr algn="l">
              <a:lnSpc>
                <a:spcPts val="4156"/>
              </a:lnSpc>
              <a:spcBef>
                <a:spcPct val="0"/>
              </a:spcBef>
            </a:pPr>
            <a:r>
              <a:rPr lang="en-US" b="true" sz="2968">
                <a:solidFill>
                  <a:srgbClr val="FFFFFF"/>
                </a:solidFill>
                <a:latin typeface="Open Sans Bold"/>
                <a:ea typeface="Open Sans Bold"/>
                <a:cs typeface="Open Sans Bold"/>
                <a:sym typeface="Open Sans Bold"/>
              </a:rPr>
              <a:t>neostock is an AI-powered inventory app built for neighborhood grocery stores in Tunisia.</a:t>
            </a:r>
          </a:p>
          <a:p>
            <a:pPr algn="l">
              <a:lnSpc>
                <a:spcPts val="4156"/>
              </a:lnSpc>
              <a:spcBef>
                <a:spcPct val="0"/>
              </a:spcBef>
            </a:pPr>
            <a:r>
              <a:rPr lang="en-US" b="true" sz="2968">
                <a:solidFill>
                  <a:srgbClr val="FFFFFF"/>
                </a:solidFill>
                <a:latin typeface="Open Sans Bold"/>
                <a:ea typeface="Open Sans Bold"/>
                <a:cs typeface="Open Sans Bold"/>
                <a:sym typeface="Open Sans Bold"/>
              </a:rPr>
              <a:t>Small grocers lose money every month because of run-out stock, unsold products, and unfair wholesale prices. neostock solves this by predicting what items to restock and when, so store owners never run out of customer favorites or waste money on dead inventory.</a:t>
            </a:r>
          </a:p>
          <a:p>
            <a:pPr algn="l">
              <a:lnSpc>
                <a:spcPts val="4156"/>
              </a:lnSpc>
              <a:spcBef>
                <a:spcPct val="0"/>
              </a:spcBef>
            </a:pPr>
            <a:r>
              <a:rPr lang="en-US" b="true" sz="2968">
                <a:solidFill>
                  <a:srgbClr val="FFFFFF"/>
                </a:solidFill>
                <a:latin typeface="Open Sans Bold"/>
                <a:ea typeface="Open Sans Bold"/>
                <a:cs typeface="Open Sans Bold"/>
                <a:sym typeface="Open Sans Bold"/>
              </a:rPr>
              <a:t>Key Features:</a:t>
            </a:r>
          </a:p>
          <a:p>
            <a:pPr algn="l">
              <a:lnSpc>
                <a:spcPts val="4156"/>
              </a:lnSpc>
              <a:spcBef>
                <a:spcPct val="0"/>
              </a:spcBef>
            </a:pPr>
            <a:r>
              <a:rPr lang="en-US" b="true" sz="2968">
                <a:solidFill>
                  <a:srgbClr val="FFFFFF"/>
                </a:solidFill>
                <a:latin typeface="Open Sans Bold"/>
                <a:ea typeface="Open Sans Bold"/>
                <a:cs typeface="Open Sans Bold"/>
                <a:sym typeface="Open Sans Bold"/>
              </a:rPr>
              <a:t>Smart Restock Alerts: Automatically tracks inventory, seasonal demand, and local market trends to alert store owners before products run out.</a:t>
            </a:r>
          </a:p>
          <a:p>
            <a:pPr algn="l">
              <a:lnSpc>
                <a:spcPts val="4156"/>
              </a:lnSpc>
              <a:spcBef>
                <a:spcPct val="0"/>
              </a:spcBef>
            </a:pPr>
            <a:r>
              <a:rPr lang="en-US" b="true" sz="2968">
                <a:solidFill>
                  <a:srgbClr val="FFFFFF"/>
                </a:solidFill>
                <a:latin typeface="Open Sans Bold"/>
                <a:ea typeface="Open Sans Bold"/>
                <a:cs typeface="Open Sans Bold"/>
                <a:sym typeface="Open Sans Bold"/>
              </a:rPr>
              <a:t>1-Click WhatsApp Orders: Grocers can reorder inventory instantly through WhatsApp.</a:t>
            </a:r>
          </a:p>
          <a:p>
            <a:pPr algn="l">
              <a:lnSpc>
                <a:spcPts val="4156"/>
              </a:lnSpc>
              <a:spcBef>
                <a:spcPct val="0"/>
              </a:spcBef>
            </a:pPr>
            <a:r>
              <a:rPr lang="en-US" b="true" sz="2968">
                <a:solidFill>
                  <a:srgbClr val="FFFFFF"/>
                </a:solidFill>
                <a:latin typeface="Open Sans Bold"/>
                <a:ea typeface="Open Sans Bold"/>
                <a:cs typeface="Open Sans Bold"/>
                <a:sym typeface="Open Sans Bold"/>
              </a:rPr>
              <a:t>Group-Buying Terminal: Allows nearby store owners to pool their orders together, giving small grocers up to 20% direct factory discounts usually reserved for big supermarkets.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F3129"/>
        </a:solidFill>
      </p:bgPr>
    </p:bg>
    <p:spTree>
      <p:nvGrpSpPr>
        <p:cNvPr id="1" name=""/>
        <p:cNvGrpSpPr/>
        <p:nvPr/>
      </p:nvGrpSpPr>
      <p:grpSpPr>
        <a:xfrm>
          <a:off x="0" y="0"/>
          <a:ext cx="0" cy="0"/>
          <a:chOff x="0" y="0"/>
          <a:chExt cx="0" cy="0"/>
        </a:xfrm>
      </p:grpSpPr>
      <p:grpSp>
        <p:nvGrpSpPr>
          <p:cNvPr name="Group 2" id="2"/>
          <p:cNvGrpSpPr/>
          <p:nvPr/>
        </p:nvGrpSpPr>
        <p:grpSpPr>
          <a:xfrm rot="0">
            <a:off x="1633258" y="-674171"/>
            <a:ext cx="14375588" cy="11819883"/>
            <a:chOff x="0" y="0"/>
            <a:chExt cx="19167451" cy="15759844"/>
          </a:xfrm>
        </p:grpSpPr>
        <p:sp>
          <p:nvSpPr>
            <p:cNvPr name="AutoShape 3" id="3"/>
            <p:cNvSpPr/>
            <p:nvPr/>
          </p:nvSpPr>
          <p:spPr>
            <a:xfrm flipV="true">
              <a:off x="12700" y="0"/>
              <a:ext cx="0" cy="15759844"/>
            </a:xfrm>
            <a:prstGeom prst="line">
              <a:avLst/>
            </a:prstGeom>
            <a:ln cap="flat" w="25400">
              <a:solidFill>
                <a:srgbClr val="079E5A">
                  <a:alpha val="11765"/>
                </a:srgbClr>
              </a:solidFill>
              <a:prstDash val="solid"/>
              <a:headEnd type="none" len="sm" w="sm"/>
              <a:tailEnd type="none" len="sm" w="sm"/>
            </a:ln>
          </p:spPr>
        </p:sp>
        <p:sp>
          <p:nvSpPr>
            <p:cNvPr name="AutoShape 4" id="4"/>
            <p:cNvSpPr/>
            <p:nvPr/>
          </p:nvSpPr>
          <p:spPr>
            <a:xfrm flipV="true">
              <a:off x="1752886" y="0"/>
              <a:ext cx="0" cy="15759844"/>
            </a:xfrm>
            <a:prstGeom prst="line">
              <a:avLst/>
            </a:prstGeom>
            <a:ln cap="flat" w="25400">
              <a:solidFill>
                <a:srgbClr val="079E5A">
                  <a:alpha val="11765"/>
                </a:srgbClr>
              </a:solidFill>
              <a:prstDash val="solid"/>
              <a:headEnd type="none" len="sm" w="sm"/>
              <a:tailEnd type="none" len="sm" w="sm"/>
            </a:ln>
          </p:spPr>
        </p:sp>
        <p:sp>
          <p:nvSpPr>
            <p:cNvPr name="AutoShape 5" id="5"/>
            <p:cNvSpPr/>
            <p:nvPr/>
          </p:nvSpPr>
          <p:spPr>
            <a:xfrm flipV="true">
              <a:off x="3493073" y="0"/>
              <a:ext cx="0" cy="15759844"/>
            </a:xfrm>
            <a:prstGeom prst="line">
              <a:avLst/>
            </a:prstGeom>
            <a:ln cap="flat" w="25400">
              <a:solidFill>
                <a:srgbClr val="079E5A">
                  <a:alpha val="11765"/>
                </a:srgbClr>
              </a:solidFill>
              <a:prstDash val="solid"/>
              <a:headEnd type="none" len="sm" w="sm"/>
              <a:tailEnd type="none" len="sm" w="sm"/>
            </a:ln>
          </p:spPr>
        </p:sp>
        <p:sp>
          <p:nvSpPr>
            <p:cNvPr name="AutoShape 6" id="6"/>
            <p:cNvSpPr/>
            <p:nvPr/>
          </p:nvSpPr>
          <p:spPr>
            <a:xfrm flipV="true">
              <a:off x="5233259" y="0"/>
              <a:ext cx="0" cy="15759844"/>
            </a:xfrm>
            <a:prstGeom prst="line">
              <a:avLst/>
            </a:prstGeom>
            <a:ln cap="flat" w="25400">
              <a:solidFill>
                <a:srgbClr val="079E5A">
                  <a:alpha val="11765"/>
                </a:srgbClr>
              </a:solidFill>
              <a:prstDash val="solid"/>
              <a:headEnd type="none" len="sm" w="sm"/>
              <a:tailEnd type="none" len="sm" w="sm"/>
            </a:ln>
          </p:spPr>
        </p:sp>
        <p:sp>
          <p:nvSpPr>
            <p:cNvPr name="AutoShape 7" id="7"/>
            <p:cNvSpPr/>
            <p:nvPr/>
          </p:nvSpPr>
          <p:spPr>
            <a:xfrm flipV="true">
              <a:off x="6973446" y="0"/>
              <a:ext cx="0" cy="15759844"/>
            </a:xfrm>
            <a:prstGeom prst="line">
              <a:avLst/>
            </a:prstGeom>
            <a:ln cap="flat" w="25400">
              <a:solidFill>
                <a:srgbClr val="079E5A">
                  <a:alpha val="11765"/>
                </a:srgbClr>
              </a:solidFill>
              <a:prstDash val="solid"/>
              <a:headEnd type="none" len="sm" w="sm"/>
              <a:tailEnd type="none" len="sm" w="sm"/>
            </a:ln>
          </p:spPr>
        </p:sp>
        <p:sp>
          <p:nvSpPr>
            <p:cNvPr name="AutoShape 8" id="8"/>
            <p:cNvSpPr/>
            <p:nvPr/>
          </p:nvSpPr>
          <p:spPr>
            <a:xfrm flipV="true">
              <a:off x="8713632" y="0"/>
              <a:ext cx="0" cy="15759844"/>
            </a:xfrm>
            <a:prstGeom prst="line">
              <a:avLst/>
            </a:prstGeom>
            <a:ln cap="flat" w="25400">
              <a:solidFill>
                <a:srgbClr val="079E5A">
                  <a:alpha val="11765"/>
                </a:srgbClr>
              </a:solidFill>
              <a:prstDash val="solid"/>
              <a:headEnd type="none" len="sm" w="sm"/>
              <a:tailEnd type="none" len="sm" w="sm"/>
            </a:ln>
          </p:spPr>
        </p:sp>
        <p:sp>
          <p:nvSpPr>
            <p:cNvPr name="AutoShape 9" id="9"/>
            <p:cNvSpPr/>
            <p:nvPr/>
          </p:nvSpPr>
          <p:spPr>
            <a:xfrm flipV="true">
              <a:off x="10453819" y="0"/>
              <a:ext cx="0" cy="15759844"/>
            </a:xfrm>
            <a:prstGeom prst="line">
              <a:avLst/>
            </a:prstGeom>
            <a:ln cap="flat" w="25400">
              <a:solidFill>
                <a:srgbClr val="079E5A">
                  <a:alpha val="11765"/>
                </a:srgbClr>
              </a:solidFill>
              <a:prstDash val="solid"/>
              <a:headEnd type="none" len="sm" w="sm"/>
              <a:tailEnd type="none" len="sm" w="sm"/>
            </a:ln>
          </p:spPr>
        </p:sp>
        <p:sp>
          <p:nvSpPr>
            <p:cNvPr name="AutoShape 10" id="10"/>
            <p:cNvSpPr/>
            <p:nvPr/>
          </p:nvSpPr>
          <p:spPr>
            <a:xfrm flipV="true">
              <a:off x="12194005" y="0"/>
              <a:ext cx="0" cy="15759844"/>
            </a:xfrm>
            <a:prstGeom prst="line">
              <a:avLst/>
            </a:prstGeom>
            <a:ln cap="flat" w="25400">
              <a:solidFill>
                <a:srgbClr val="079E5A">
                  <a:alpha val="11765"/>
                </a:srgbClr>
              </a:solidFill>
              <a:prstDash val="solid"/>
              <a:headEnd type="none" len="sm" w="sm"/>
              <a:tailEnd type="none" len="sm" w="sm"/>
            </a:ln>
          </p:spPr>
        </p:sp>
        <p:sp>
          <p:nvSpPr>
            <p:cNvPr name="AutoShape 11" id="11"/>
            <p:cNvSpPr/>
            <p:nvPr/>
          </p:nvSpPr>
          <p:spPr>
            <a:xfrm flipV="true">
              <a:off x="13934192" y="0"/>
              <a:ext cx="0" cy="15759844"/>
            </a:xfrm>
            <a:prstGeom prst="line">
              <a:avLst/>
            </a:prstGeom>
            <a:ln cap="flat" w="25400">
              <a:solidFill>
                <a:srgbClr val="079E5A">
                  <a:alpha val="11765"/>
                </a:srgbClr>
              </a:solidFill>
              <a:prstDash val="solid"/>
              <a:headEnd type="none" len="sm" w="sm"/>
              <a:tailEnd type="none" len="sm" w="sm"/>
            </a:ln>
          </p:spPr>
        </p:sp>
        <p:sp>
          <p:nvSpPr>
            <p:cNvPr name="AutoShape 12" id="12"/>
            <p:cNvSpPr/>
            <p:nvPr/>
          </p:nvSpPr>
          <p:spPr>
            <a:xfrm flipV="true">
              <a:off x="15674378" y="0"/>
              <a:ext cx="0" cy="15759844"/>
            </a:xfrm>
            <a:prstGeom prst="line">
              <a:avLst/>
            </a:prstGeom>
            <a:ln cap="flat" w="25400">
              <a:solidFill>
                <a:srgbClr val="079E5A">
                  <a:alpha val="11765"/>
                </a:srgbClr>
              </a:solidFill>
              <a:prstDash val="solid"/>
              <a:headEnd type="none" len="sm" w="sm"/>
              <a:tailEnd type="none" len="sm" w="sm"/>
            </a:ln>
          </p:spPr>
        </p:sp>
        <p:sp>
          <p:nvSpPr>
            <p:cNvPr name="AutoShape 13" id="13"/>
            <p:cNvSpPr/>
            <p:nvPr/>
          </p:nvSpPr>
          <p:spPr>
            <a:xfrm flipV="true">
              <a:off x="17414564" y="0"/>
              <a:ext cx="0" cy="15759844"/>
            </a:xfrm>
            <a:prstGeom prst="line">
              <a:avLst/>
            </a:prstGeom>
            <a:ln cap="flat" w="25400">
              <a:solidFill>
                <a:srgbClr val="079E5A">
                  <a:alpha val="11765"/>
                </a:srgbClr>
              </a:solidFill>
              <a:prstDash val="solid"/>
              <a:headEnd type="none" len="sm" w="sm"/>
              <a:tailEnd type="none" len="sm" w="sm"/>
            </a:ln>
          </p:spPr>
        </p:sp>
        <p:sp>
          <p:nvSpPr>
            <p:cNvPr name="AutoShape 14" id="14"/>
            <p:cNvSpPr/>
            <p:nvPr/>
          </p:nvSpPr>
          <p:spPr>
            <a:xfrm flipV="true">
              <a:off x="19154751" y="0"/>
              <a:ext cx="0" cy="15759844"/>
            </a:xfrm>
            <a:prstGeom prst="line">
              <a:avLst/>
            </a:prstGeom>
            <a:ln cap="flat" w="25400">
              <a:solidFill>
                <a:srgbClr val="079E5A">
                  <a:alpha val="11765"/>
                </a:srgbClr>
              </a:solidFill>
              <a:prstDash val="solid"/>
              <a:headEnd type="none" len="sm" w="sm"/>
              <a:tailEnd type="none" len="sm" w="sm"/>
            </a:ln>
          </p:spPr>
        </p:sp>
      </p:grpSp>
      <p:grpSp>
        <p:nvGrpSpPr>
          <p:cNvPr name="Group 15" id="15"/>
          <p:cNvGrpSpPr/>
          <p:nvPr/>
        </p:nvGrpSpPr>
        <p:grpSpPr>
          <a:xfrm rot="0">
            <a:off x="7345543" y="3169477"/>
            <a:ext cx="18945897" cy="1894589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0342028" y="-11457159"/>
            <a:ext cx="18945897" cy="1894589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302622" y="1240573"/>
            <a:ext cx="17682755" cy="7990395"/>
          </a:xfrm>
          <a:custGeom>
            <a:avLst/>
            <a:gdLst/>
            <a:ahLst/>
            <a:cxnLst/>
            <a:rect r="r" b="b" t="t" l="l"/>
            <a:pathLst>
              <a:path h="7990395" w="17682755">
                <a:moveTo>
                  <a:pt x="0" y="0"/>
                </a:moveTo>
                <a:lnTo>
                  <a:pt x="17682756" y="0"/>
                </a:lnTo>
                <a:lnTo>
                  <a:pt x="17682756" y="7990395"/>
                </a:lnTo>
                <a:lnTo>
                  <a:pt x="0" y="7990395"/>
                </a:lnTo>
                <a:lnTo>
                  <a:pt x="0" y="0"/>
                </a:lnTo>
                <a:close/>
              </a:path>
            </a:pathLst>
          </a:custGeom>
          <a:blipFill>
            <a:blip r:embed="rId2"/>
            <a:stretch>
              <a:fillRect l="0" t="0" r="0" b="0"/>
            </a:stretch>
          </a:blipFill>
        </p:spPr>
      </p:sp>
      <p:sp>
        <p:nvSpPr>
          <p:cNvPr name="TextBox 22" id="22"/>
          <p:cNvSpPr txBox="true"/>
          <p:nvPr/>
        </p:nvSpPr>
        <p:spPr>
          <a:xfrm rot="0">
            <a:off x="2068726" y="119713"/>
            <a:ext cx="5733887" cy="1006856"/>
          </a:xfrm>
          <a:prstGeom prst="rect">
            <a:avLst/>
          </a:prstGeom>
        </p:spPr>
        <p:txBody>
          <a:bodyPr anchor="t" rtlCol="false" tIns="0" lIns="0" bIns="0" rIns="0">
            <a:spAutoFit/>
          </a:bodyPr>
          <a:lstStyle/>
          <a:p>
            <a:pPr algn="ctr">
              <a:lnSpc>
                <a:spcPts val="8327"/>
              </a:lnSpc>
              <a:spcBef>
                <a:spcPct val="0"/>
              </a:spcBef>
            </a:pPr>
            <a:r>
              <a:rPr lang="en-US" sz="5947">
                <a:solidFill>
                  <a:srgbClr val="FFFFFF"/>
                </a:solidFill>
                <a:latin typeface="Open Sans"/>
                <a:ea typeface="Open Sans"/>
                <a:cs typeface="Open Sans"/>
                <a:sym typeface="Open Sans"/>
              </a:rPr>
              <a:t>dashboard page</a:t>
            </a:r>
          </a:p>
        </p:txBody>
      </p:sp>
      <p:sp>
        <p:nvSpPr>
          <p:cNvPr name="TextBox 23" id="23"/>
          <p:cNvSpPr txBox="true"/>
          <p:nvPr/>
        </p:nvSpPr>
        <p:spPr>
          <a:xfrm rot="0">
            <a:off x="4393896" y="4123003"/>
            <a:ext cx="12174899" cy="1020497"/>
          </a:xfrm>
          <a:prstGeom prst="rect">
            <a:avLst/>
          </a:prstGeom>
        </p:spPr>
        <p:txBody>
          <a:bodyPr anchor="t" rtlCol="false" tIns="0" lIns="0" bIns="0" rIns="0">
            <a:spAutoFit/>
          </a:bodyPr>
          <a:lstStyle/>
          <a:p>
            <a:pPr algn="ctr">
              <a:lnSpc>
                <a:spcPts val="8327"/>
              </a:lnSpc>
              <a:spcBef>
                <a:spcPct val="0"/>
              </a:spcBef>
            </a:pPr>
            <a:r>
              <a:rPr lang="en-US" sz="5947">
                <a:solidFill>
                  <a:srgbClr val="079E5A"/>
                </a:solidFill>
                <a:latin typeface="Open Sans"/>
                <a:ea typeface="Open Sans"/>
                <a:cs typeface="Open Sans"/>
                <a:sym typeface="Open Sans"/>
              </a:rPr>
              <a:t>all the stats needed with AI review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F3129"/>
        </a:solidFill>
      </p:bgPr>
    </p:bg>
    <p:spTree>
      <p:nvGrpSpPr>
        <p:cNvPr id="1" name=""/>
        <p:cNvGrpSpPr/>
        <p:nvPr/>
      </p:nvGrpSpPr>
      <p:grpSpPr>
        <a:xfrm>
          <a:off x="0" y="0"/>
          <a:ext cx="0" cy="0"/>
          <a:chOff x="0" y="0"/>
          <a:chExt cx="0" cy="0"/>
        </a:xfrm>
      </p:grpSpPr>
      <p:grpSp>
        <p:nvGrpSpPr>
          <p:cNvPr name="Group 2" id="2"/>
          <p:cNvGrpSpPr/>
          <p:nvPr/>
        </p:nvGrpSpPr>
        <p:grpSpPr>
          <a:xfrm rot="0">
            <a:off x="1633258" y="-674171"/>
            <a:ext cx="14375588" cy="11819883"/>
            <a:chOff x="0" y="0"/>
            <a:chExt cx="19167451" cy="15759844"/>
          </a:xfrm>
        </p:grpSpPr>
        <p:sp>
          <p:nvSpPr>
            <p:cNvPr name="AutoShape 3" id="3"/>
            <p:cNvSpPr/>
            <p:nvPr/>
          </p:nvSpPr>
          <p:spPr>
            <a:xfrm flipV="true">
              <a:off x="12700" y="0"/>
              <a:ext cx="0" cy="15759844"/>
            </a:xfrm>
            <a:prstGeom prst="line">
              <a:avLst/>
            </a:prstGeom>
            <a:ln cap="flat" w="25400">
              <a:solidFill>
                <a:srgbClr val="079E5A">
                  <a:alpha val="11765"/>
                </a:srgbClr>
              </a:solidFill>
              <a:prstDash val="solid"/>
              <a:headEnd type="none" len="sm" w="sm"/>
              <a:tailEnd type="none" len="sm" w="sm"/>
            </a:ln>
          </p:spPr>
        </p:sp>
        <p:sp>
          <p:nvSpPr>
            <p:cNvPr name="AutoShape 4" id="4"/>
            <p:cNvSpPr/>
            <p:nvPr/>
          </p:nvSpPr>
          <p:spPr>
            <a:xfrm flipV="true">
              <a:off x="1752886" y="0"/>
              <a:ext cx="0" cy="15759844"/>
            </a:xfrm>
            <a:prstGeom prst="line">
              <a:avLst/>
            </a:prstGeom>
            <a:ln cap="flat" w="25400">
              <a:solidFill>
                <a:srgbClr val="079E5A">
                  <a:alpha val="11765"/>
                </a:srgbClr>
              </a:solidFill>
              <a:prstDash val="solid"/>
              <a:headEnd type="none" len="sm" w="sm"/>
              <a:tailEnd type="none" len="sm" w="sm"/>
            </a:ln>
          </p:spPr>
        </p:sp>
        <p:sp>
          <p:nvSpPr>
            <p:cNvPr name="AutoShape 5" id="5"/>
            <p:cNvSpPr/>
            <p:nvPr/>
          </p:nvSpPr>
          <p:spPr>
            <a:xfrm flipV="true">
              <a:off x="3493073" y="0"/>
              <a:ext cx="0" cy="15759844"/>
            </a:xfrm>
            <a:prstGeom prst="line">
              <a:avLst/>
            </a:prstGeom>
            <a:ln cap="flat" w="25400">
              <a:solidFill>
                <a:srgbClr val="079E5A">
                  <a:alpha val="11765"/>
                </a:srgbClr>
              </a:solidFill>
              <a:prstDash val="solid"/>
              <a:headEnd type="none" len="sm" w="sm"/>
              <a:tailEnd type="none" len="sm" w="sm"/>
            </a:ln>
          </p:spPr>
        </p:sp>
        <p:sp>
          <p:nvSpPr>
            <p:cNvPr name="AutoShape 6" id="6"/>
            <p:cNvSpPr/>
            <p:nvPr/>
          </p:nvSpPr>
          <p:spPr>
            <a:xfrm flipV="true">
              <a:off x="5233259" y="0"/>
              <a:ext cx="0" cy="15759844"/>
            </a:xfrm>
            <a:prstGeom prst="line">
              <a:avLst/>
            </a:prstGeom>
            <a:ln cap="flat" w="25400">
              <a:solidFill>
                <a:srgbClr val="079E5A">
                  <a:alpha val="11765"/>
                </a:srgbClr>
              </a:solidFill>
              <a:prstDash val="solid"/>
              <a:headEnd type="none" len="sm" w="sm"/>
              <a:tailEnd type="none" len="sm" w="sm"/>
            </a:ln>
          </p:spPr>
        </p:sp>
        <p:sp>
          <p:nvSpPr>
            <p:cNvPr name="AutoShape 7" id="7"/>
            <p:cNvSpPr/>
            <p:nvPr/>
          </p:nvSpPr>
          <p:spPr>
            <a:xfrm flipV="true">
              <a:off x="6973446" y="0"/>
              <a:ext cx="0" cy="15759844"/>
            </a:xfrm>
            <a:prstGeom prst="line">
              <a:avLst/>
            </a:prstGeom>
            <a:ln cap="flat" w="25400">
              <a:solidFill>
                <a:srgbClr val="079E5A">
                  <a:alpha val="11765"/>
                </a:srgbClr>
              </a:solidFill>
              <a:prstDash val="solid"/>
              <a:headEnd type="none" len="sm" w="sm"/>
              <a:tailEnd type="none" len="sm" w="sm"/>
            </a:ln>
          </p:spPr>
        </p:sp>
        <p:sp>
          <p:nvSpPr>
            <p:cNvPr name="AutoShape 8" id="8"/>
            <p:cNvSpPr/>
            <p:nvPr/>
          </p:nvSpPr>
          <p:spPr>
            <a:xfrm flipV="true">
              <a:off x="8713632" y="0"/>
              <a:ext cx="0" cy="15759844"/>
            </a:xfrm>
            <a:prstGeom prst="line">
              <a:avLst/>
            </a:prstGeom>
            <a:ln cap="flat" w="25400">
              <a:solidFill>
                <a:srgbClr val="079E5A">
                  <a:alpha val="11765"/>
                </a:srgbClr>
              </a:solidFill>
              <a:prstDash val="solid"/>
              <a:headEnd type="none" len="sm" w="sm"/>
              <a:tailEnd type="none" len="sm" w="sm"/>
            </a:ln>
          </p:spPr>
        </p:sp>
        <p:sp>
          <p:nvSpPr>
            <p:cNvPr name="AutoShape 9" id="9"/>
            <p:cNvSpPr/>
            <p:nvPr/>
          </p:nvSpPr>
          <p:spPr>
            <a:xfrm flipV="true">
              <a:off x="10453819" y="0"/>
              <a:ext cx="0" cy="15759844"/>
            </a:xfrm>
            <a:prstGeom prst="line">
              <a:avLst/>
            </a:prstGeom>
            <a:ln cap="flat" w="25400">
              <a:solidFill>
                <a:srgbClr val="079E5A">
                  <a:alpha val="11765"/>
                </a:srgbClr>
              </a:solidFill>
              <a:prstDash val="solid"/>
              <a:headEnd type="none" len="sm" w="sm"/>
              <a:tailEnd type="none" len="sm" w="sm"/>
            </a:ln>
          </p:spPr>
        </p:sp>
        <p:sp>
          <p:nvSpPr>
            <p:cNvPr name="AutoShape 10" id="10"/>
            <p:cNvSpPr/>
            <p:nvPr/>
          </p:nvSpPr>
          <p:spPr>
            <a:xfrm flipV="true">
              <a:off x="12194005" y="0"/>
              <a:ext cx="0" cy="15759844"/>
            </a:xfrm>
            <a:prstGeom prst="line">
              <a:avLst/>
            </a:prstGeom>
            <a:ln cap="flat" w="25400">
              <a:solidFill>
                <a:srgbClr val="079E5A">
                  <a:alpha val="11765"/>
                </a:srgbClr>
              </a:solidFill>
              <a:prstDash val="solid"/>
              <a:headEnd type="none" len="sm" w="sm"/>
              <a:tailEnd type="none" len="sm" w="sm"/>
            </a:ln>
          </p:spPr>
        </p:sp>
        <p:sp>
          <p:nvSpPr>
            <p:cNvPr name="AutoShape 11" id="11"/>
            <p:cNvSpPr/>
            <p:nvPr/>
          </p:nvSpPr>
          <p:spPr>
            <a:xfrm flipV="true">
              <a:off x="13934192" y="0"/>
              <a:ext cx="0" cy="15759844"/>
            </a:xfrm>
            <a:prstGeom prst="line">
              <a:avLst/>
            </a:prstGeom>
            <a:ln cap="flat" w="25400">
              <a:solidFill>
                <a:srgbClr val="079E5A">
                  <a:alpha val="11765"/>
                </a:srgbClr>
              </a:solidFill>
              <a:prstDash val="solid"/>
              <a:headEnd type="none" len="sm" w="sm"/>
              <a:tailEnd type="none" len="sm" w="sm"/>
            </a:ln>
          </p:spPr>
        </p:sp>
        <p:sp>
          <p:nvSpPr>
            <p:cNvPr name="AutoShape 12" id="12"/>
            <p:cNvSpPr/>
            <p:nvPr/>
          </p:nvSpPr>
          <p:spPr>
            <a:xfrm flipV="true">
              <a:off x="15674378" y="0"/>
              <a:ext cx="0" cy="15759844"/>
            </a:xfrm>
            <a:prstGeom prst="line">
              <a:avLst/>
            </a:prstGeom>
            <a:ln cap="flat" w="25400">
              <a:solidFill>
                <a:srgbClr val="079E5A">
                  <a:alpha val="11765"/>
                </a:srgbClr>
              </a:solidFill>
              <a:prstDash val="solid"/>
              <a:headEnd type="none" len="sm" w="sm"/>
              <a:tailEnd type="none" len="sm" w="sm"/>
            </a:ln>
          </p:spPr>
        </p:sp>
        <p:sp>
          <p:nvSpPr>
            <p:cNvPr name="AutoShape 13" id="13"/>
            <p:cNvSpPr/>
            <p:nvPr/>
          </p:nvSpPr>
          <p:spPr>
            <a:xfrm flipV="true">
              <a:off x="17414564" y="0"/>
              <a:ext cx="0" cy="15759844"/>
            </a:xfrm>
            <a:prstGeom prst="line">
              <a:avLst/>
            </a:prstGeom>
            <a:ln cap="flat" w="25400">
              <a:solidFill>
                <a:srgbClr val="079E5A">
                  <a:alpha val="11765"/>
                </a:srgbClr>
              </a:solidFill>
              <a:prstDash val="solid"/>
              <a:headEnd type="none" len="sm" w="sm"/>
              <a:tailEnd type="none" len="sm" w="sm"/>
            </a:ln>
          </p:spPr>
        </p:sp>
        <p:sp>
          <p:nvSpPr>
            <p:cNvPr name="AutoShape 14" id="14"/>
            <p:cNvSpPr/>
            <p:nvPr/>
          </p:nvSpPr>
          <p:spPr>
            <a:xfrm flipV="true">
              <a:off x="19154751" y="0"/>
              <a:ext cx="0" cy="15759844"/>
            </a:xfrm>
            <a:prstGeom prst="line">
              <a:avLst/>
            </a:prstGeom>
            <a:ln cap="flat" w="25400">
              <a:solidFill>
                <a:srgbClr val="079E5A">
                  <a:alpha val="11765"/>
                </a:srgbClr>
              </a:solidFill>
              <a:prstDash val="solid"/>
              <a:headEnd type="none" len="sm" w="sm"/>
              <a:tailEnd type="none" len="sm" w="sm"/>
            </a:ln>
          </p:spPr>
        </p:sp>
      </p:grpSp>
      <p:grpSp>
        <p:nvGrpSpPr>
          <p:cNvPr name="Group 15" id="15"/>
          <p:cNvGrpSpPr/>
          <p:nvPr/>
        </p:nvGrpSpPr>
        <p:grpSpPr>
          <a:xfrm rot="0">
            <a:off x="7345543" y="3169477"/>
            <a:ext cx="18945897" cy="1894589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0342028" y="-11457159"/>
            <a:ext cx="18945897" cy="1894589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658375" y="1346027"/>
            <a:ext cx="7509954" cy="10369166"/>
          </a:xfrm>
          <a:custGeom>
            <a:avLst/>
            <a:gdLst/>
            <a:ahLst/>
            <a:cxnLst/>
            <a:rect r="r" b="b" t="t" l="l"/>
            <a:pathLst>
              <a:path h="10369166" w="7509954">
                <a:moveTo>
                  <a:pt x="0" y="0"/>
                </a:moveTo>
                <a:lnTo>
                  <a:pt x="7509955" y="0"/>
                </a:lnTo>
                <a:lnTo>
                  <a:pt x="7509955" y="10369166"/>
                </a:lnTo>
                <a:lnTo>
                  <a:pt x="0" y="10369166"/>
                </a:lnTo>
                <a:lnTo>
                  <a:pt x="0" y="0"/>
                </a:lnTo>
                <a:close/>
              </a:path>
            </a:pathLst>
          </a:custGeom>
          <a:blipFill>
            <a:blip r:embed="rId2"/>
            <a:stretch>
              <a:fillRect l="0" t="0" r="0" b="0"/>
            </a:stretch>
          </a:blipFill>
        </p:spPr>
      </p:sp>
      <p:sp>
        <p:nvSpPr>
          <p:cNvPr name="TextBox 22" id="22"/>
          <p:cNvSpPr txBox="true"/>
          <p:nvPr/>
        </p:nvSpPr>
        <p:spPr>
          <a:xfrm rot="0">
            <a:off x="2068726" y="119713"/>
            <a:ext cx="5733887" cy="1006856"/>
          </a:xfrm>
          <a:prstGeom prst="rect">
            <a:avLst/>
          </a:prstGeom>
        </p:spPr>
        <p:txBody>
          <a:bodyPr anchor="t" rtlCol="false" tIns="0" lIns="0" bIns="0" rIns="0">
            <a:spAutoFit/>
          </a:bodyPr>
          <a:lstStyle/>
          <a:p>
            <a:pPr algn="ctr">
              <a:lnSpc>
                <a:spcPts val="8327"/>
              </a:lnSpc>
              <a:spcBef>
                <a:spcPct val="0"/>
              </a:spcBef>
            </a:pPr>
            <a:r>
              <a:rPr lang="en-US" sz="5947">
                <a:solidFill>
                  <a:srgbClr val="FFFFFF"/>
                </a:solidFill>
                <a:latin typeface="Open Sans"/>
                <a:ea typeface="Open Sans"/>
                <a:cs typeface="Open Sans"/>
                <a:sym typeface="Open Sans"/>
              </a:rPr>
              <a:t>dashboard page</a:t>
            </a:r>
          </a:p>
        </p:txBody>
      </p:sp>
      <p:sp>
        <p:nvSpPr>
          <p:cNvPr name="Freeform 23" id="23"/>
          <p:cNvSpPr/>
          <p:nvPr/>
        </p:nvSpPr>
        <p:spPr>
          <a:xfrm flipH="false" flipV="false" rot="-10799999">
            <a:off x="6104255" y="2360023"/>
            <a:ext cx="4128150" cy="686305"/>
          </a:xfrm>
          <a:custGeom>
            <a:avLst/>
            <a:gdLst/>
            <a:ahLst/>
            <a:cxnLst/>
            <a:rect r="r" b="b" t="t" l="l"/>
            <a:pathLst>
              <a:path h="686305" w="4128150">
                <a:moveTo>
                  <a:pt x="0" y="0"/>
                </a:moveTo>
                <a:lnTo>
                  <a:pt x="4128150" y="0"/>
                </a:lnTo>
                <a:lnTo>
                  <a:pt x="4128150" y="686305"/>
                </a:lnTo>
                <a:lnTo>
                  <a:pt x="0" y="6863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4" id="24"/>
          <p:cNvSpPr txBox="true"/>
          <p:nvPr/>
        </p:nvSpPr>
        <p:spPr>
          <a:xfrm rot="0">
            <a:off x="10232405" y="1794312"/>
            <a:ext cx="8004583" cy="1722476"/>
          </a:xfrm>
          <a:prstGeom prst="rect">
            <a:avLst/>
          </a:prstGeom>
        </p:spPr>
        <p:txBody>
          <a:bodyPr anchor="t" rtlCol="false" tIns="0" lIns="0" bIns="0" rIns="0">
            <a:spAutoFit/>
          </a:bodyPr>
          <a:lstStyle/>
          <a:p>
            <a:pPr algn="ctr">
              <a:lnSpc>
                <a:spcPts val="6998"/>
              </a:lnSpc>
              <a:spcBef>
                <a:spcPct val="0"/>
              </a:spcBef>
            </a:pPr>
            <a:r>
              <a:rPr lang="en-US" sz="4998">
                <a:solidFill>
                  <a:srgbClr val="FFFFFF"/>
                </a:solidFill>
                <a:latin typeface="Open Sans"/>
                <a:ea typeface="Open Sans"/>
                <a:cs typeface="Open Sans"/>
                <a:sym typeface="Open Sans"/>
              </a:rPr>
              <a:t>the dashboard where you can see all the videos </a:t>
            </a:r>
          </a:p>
        </p:txBody>
      </p:sp>
      <p:sp>
        <p:nvSpPr>
          <p:cNvPr name="Freeform 25" id="25"/>
          <p:cNvSpPr/>
          <p:nvPr/>
        </p:nvSpPr>
        <p:spPr>
          <a:xfrm flipH="false" flipV="false" rot="-10799999">
            <a:off x="6104255" y="4103497"/>
            <a:ext cx="4128150" cy="686305"/>
          </a:xfrm>
          <a:custGeom>
            <a:avLst/>
            <a:gdLst/>
            <a:ahLst/>
            <a:cxnLst/>
            <a:rect r="r" b="b" t="t" l="l"/>
            <a:pathLst>
              <a:path h="686305" w="4128150">
                <a:moveTo>
                  <a:pt x="0" y="0"/>
                </a:moveTo>
                <a:lnTo>
                  <a:pt x="4128150" y="0"/>
                </a:lnTo>
                <a:lnTo>
                  <a:pt x="4128150" y="686305"/>
                </a:lnTo>
                <a:lnTo>
                  <a:pt x="0" y="6863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6" id="26"/>
          <p:cNvSpPr txBox="true"/>
          <p:nvPr/>
        </p:nvSpPr>
        <p:spPr>
          <a:xfrm rot="0">
            <a:off x="10232405" y="3908953"/>
            <a:ext cx="6925420" cy="1018243"/>
          </a:xfrm>
          <a:prstGeom prst="rect">
            <a:avLst/>
          </a:prstGeom>
        </p:spPr>
        <p:txBody>
          <a:bodyPr anchor="t" rtlCol="false" tIns="0" lIns="0" bIns="0" rIns="0">
            <a:spAutoFit/>
          </a:bodyPr>
          <a:lstStyle/>
          <a:p>
            <a:pPr algn="ctr">
              <a:lnSpc>
                <a:spcPts val="4133"/>
              </a:lnSpc>
              <a:spcBef>
                <a:spcPct val="0"/>
              </a:spcBef>
            </a:pPr>
            <a:r>
              <a:rPr lang="en-US" sz="2952">
                <a:solidFill>
                  <a:srgbClr val="FFFFFF"/>
                </a:solidFill>
                <a:latin typeface="Open Sans"/>
                <a:ea typeface="Open Sans"/>
                <a:cs typeface="Open Sans"/>
                <a:sym typeface="Open Sans"/>
              </a:rPr>
              <a:t>B2B Market place with all the tunisien big transcations </a:t>
            </a:r>
          </a:p>
        </p:txBody>
      </p:sp>
      <p:sp>
        <p:nvSpPr>
          <p:cNvPr name="Freeform 27" id="27"/>
          <p:cNvSpPr/>
          <p:nvPr/>
        </p:nvSpPr>
        <p:spPr>
          <a:xfrm flipH="false" flipV="false" rot="-10799999">
            <a:off x="4692902" y="5847077"/>
            <a:ext cx="4128150" cy="686305"/>
          </a:xfrm>
          <a:custGeom>
            <a:avLst/>
            <a:gdLst/>
            <a:ahLst/>
            <a:cxnLst/>
            <a:rect r="r" b="b" t="t" l="l"/>
            <a:pathLst>
              <a:path h="686305" w="4128150">
                <a:moveTo>
                  <a:pt x="0" y="0"/>
                </a:moveTo>
                <a:lnTo>
                  <a:pt x="4128150" y="0"/>
                </a:lnTo>
                <a:lnTo>
                  <a:pt x="4128150" y="686305"/>
                </a:lnTo>
                <a:lnTo>
                  <a:pt x="0" y="6863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8" id="28"/>
          <p:cNvSpPr txBox="true"/>
          <p:nvPr/>
        </p:nvSpPr>
        <p:spPr>
          <a:xfrm rot="0">
            <a:off x="9144000" y="5784446"/>
            <a:ext cx="5324473" cy="583175"/>
          </a:xfrm>
          <a:prstGeom prst="rect">
            <a:avLst/>
          </a:prstGeom>
        </p:spPr>
        <p:txBody>
          <a:bodyPr anchor="t" rtlCol="false" tIns="0" lIns="0" bIns="0" rIns="0">
            <a:spAutoFit/>
          </a:bodyPr>
          <a:lstStyle/>
          <a:p>
            <a:pPr algn="ctr">
              <a:lnSpc>
                <a:spcPts val="4756"/>
              </a:lnSpc>
              <a:spcBef>
                <a:spcPct val="0"/>
              </a:spcBef>
            </a:pPr>
            <a:r>
              <a:rPr lang="en-US" b="true" sz="3397">
                <a:solidFill>
                  <a:srgbClr val="FFFFFF"/>
                </a:solidFill>
                <a:latin typeface="Open Sans Bold"/>
                <a:ea typeface="Open Sans Bold"/>
                <a:cs typeface="Open Sans Bold"/>
                <a:sym typeface="Open Sans Bold"/>
              </a:rPr>
              <a:t>You’re product manager </a:t>
            </a:r>
          </a:p>
        </p:txBody>
      </p:sp>
      <p:sp>
        <p:nvSpPr>
          <p:cNvPr name="TextBox 29" id="29"/>
          <p:cNvSpPr txBox="true"/>
          <p:nvPr/>
        </p:nvSpPr>
        <p:spPr>
          <a:xfrm rot="0">
            <a:off x="9735317" y="7224871"/>
            <a:ext cx="6379857" cy="1185964"/>
          </a:xfrm>
          <a:prstGeom prst="rect">
            <a:avLst/>
          </a:prstGeom>
        </p:spPr>
        <p:txBody>
          <a:bodyPr anchor="t" rtlCol="false" tIns="0" lIns="0" bIns="0" rIns="0">
            <a:spAutoFit/>
          </a:bodyPr>
          <a:lstStyle/>
          <a:p>
            <a:pPr algn="ctr">
              <a:lnSpc>
                <a:spcPts val="4756"/>
              </a:lnSpc>
              <a:spcBef>
                <a:spcPct val="0"/>
              </a:spcBef>
            </a:pPr>
            <a:r>
              <a:rPr lang="en-US" b="true" sz="3397">
                <a:solidFill>
                  <a:srgbClr val="FFFFFF"/>
                </a:solidFill>
                <a:latin typeface="Open Sans Bold"/>
                <a:ea typeface="Open Sans Bold"/>
                <a:cs typeface="Open Sans Bold"/>
                <a:sym typeface="Open Sans Bold"/>
              </a:rPr>
              <a:t>A</a:t>
            </a:r>
            <a:r>
              <a:rPr lang="en-US" b="true" sz="3397">
                <a:solidFill>
                  <a:srgbClr val="FFFFFF"/>
                </a:solidFill>
                <a:latin typeface="Open Sans Bold"/>
                <a:ea typeface="Open Sans Bold"/>
                <a:cs typeface="Open Sans Bold"/>
                <a:sym typeface="Open Sans Bold"/>
              </a:rPr>
              <a:t>I chatbot with all the stats and the graph</a:t>
            </a:r>
          </a:p>
        </p:txBody>
      </p:sp>
      <p:sp>
        <p:nvSpPr>
          <p:cNvPr name="Freeform 30" id="30"/>
          <p:cNvSpPr/>
          <p:nvPr/>
        </p:nvSpPr>
        <p:spPr>
          <a:xfrm flipH="false" flipV="false" rot="-10799999">
            <a:off x="5607167" y="7539730"/>
            <a:ext cx="4128150" cy="686305"/>
          </a:xfrm>
          <a:custGeom>
            <a:avLst/>
            <a:gdLst/>
            <a:ahLst/>
            <a:cxnLst/>
            <a:rect r="r" b="b" t="t" l="l"/>
            <a:pathLst>
              <a:path h="686305" w="4128150">
                <a:moveTo>
                  <a:pt x="0" y="0"/>
                </a:moveTo>
                <a:lnTo>
                  <a:pt x="4128150" y="0"/>
                </a:lnTo>
                <a:lnTo>
                  <a:pt x="4128150" y="686305"/>
                </a:lnTo>
                <a:lnTo>
                  <a:pt x="0" y="6863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1" id="31"/>
          <p:cNvSpPr/>
          <p:nvPr/>
        </p:nvSpPr>
        <p:spPr>
          <a:xfrm flipH="false" flipV="false" rot="-10799999">
            <a:off x="5607167" y="9258300"/>
            <a:ext cx="4128150" cy="686305"/>
          </a:xfrm>
          <a:custGeom>
            <a:avLst/>
            <a:gdLst/>
            <a:ahLst/>
            <a:cxnLst/>
            <a:rect r="r" b="b" t="t" l="l"/>
            <a:pathLst>
              <a:path h="686305" w="4128150">
                <a:moveTo>
                  <a:pt x="0" y="0"/>
                </a:moveTo>
                <a:lnTo>
                  <a:pt x="4128150" y="0"/>
                </a:lnTo>
                <a:lnTo>
                  <a:pt x="4128150" y="686305"/>
                </a:lnTo>
                <a:lnTo>
                  <a:pt x="0" y="6863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2" id="32"/>
          <p:cNvSpPr txBox="true"/>
          <p:nvPr/>
        </p:nvSpPr>
        <p:spPr>
          <a:xfrm rot="0">
            <a:off x="8634679" y="9191625"/>
            <a:ext cx="6379857" cy="583175"/>
          </a:xfrm>
          <a:prstGeom prst="rect">
            <a:avLst/>
          </a:prstGeom>
        </p:spPr>
        <p:txBody>
          <a:bodyPr anchor="t" rtlCol="false" tIns="0" lIns="0" bIns="0" rIns="0">
            <a:spAutoFit/>
          </a:bodyPr>
          <a:lstStyle/>
          <a:p>
            <a:pPr algn="ctr">
              <a:lnSpc>
                <a:spcPts val="4756"/>
              </a:lnSpc>
              <a:spcBef>
                <a:spcPct val="0"/>
              </a:spcBef>
            </a:pPr>
            <a:r>
              <a:rPr lang="en-US" b="true" sz="3397">
                <a:solidFill>
                  <a:srgbClr val="FFFFFF"/>
                </a:solidFill>
                <a:latin typeface="Open Sans Bold"/>
                <a:ea typeface="Open Sans Bold"/>
                <a:cs typeface="Open Sans Bold"/>
                <a:sym typeface="Open Sans Bold"/>
              </a:rPr>
              <a:t>transactions list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F3129"/>
        </a:solidFill>
      </p:bgPr>
    </p:bg>
    <p:spTree>
      <p:nvGrpSpPr>
        <p:cNvPr id="1" name=""/>
        <p:cNvGrpSpPr/>
        <p:nvPr/>
      </p:nvGrpSpPr>
      <p:grpSpPr>
        <a:xfrm>
          <a:off x="0" y="0"/>
          <a:ext cx="0" cy="0"/>
          <a:chOff x="0" y="0"/>
          <a:chExt cx="0" cy="0"/>
        </a:xfrm>
      </p:grpSpPr>
      <p:grpSp>
        <p:nvGrpSpPr>
          <p:cNvPr name="Group 2" id="2"/>
          <p:cNvGrpSpPr/>
          <p:nvPr/>
        </p:nvGrpSpPr>
        <p:grpSpPr>
          <a:xfrm rot="0">
            <a:off x="1633258" y="-674171"/>
            <a:ext cx="14375588" cy="11819883"/>
            <a:chOff x="0" y="0"/>
            <a:chExt cx="19167451" cy="15759844"/>
          </a:xfrm>
        </p:grpSpPr>
        <p:sp>
          <p:nvSpPr>
            <p:cNvPr name="AutoShape 3" id="3"/>
            <p:cNvSpPr/>
            <p:nvPr/>
          </p:nvSpPr>
          <p:spPr>
            <a:xfrm flipV="true">
              <a:off x="12700" y="0"/>
              <a:ext cx="0" cy="15759844"/>
            </a:xfrm>
            <a:prstGeom prst="line">
              <a:avLst/>
            </a:prstGeom>
            <a:ln cap="flat" w="25400">
              <a:solidFill>
                <a:srgbClr val="079E5A">
                  <a:alpha val="11765"/>
                </a:srgbClr>
              </a:solidFill>
              <a:prstDash val="solid"/>
              <a:headEnd type="none" len="sm" w="sm"/>
              <a:tailEnd type="none" len="sm" w="sm"/>
            </a:ln>
          </p:spPr>
        </p:sp>
        <p:sp>
          <p:nvSpPr>
            <p:cNvPr name="AutoShape 4" id="4"/>
            <p:cNvSpPr/>
            <p:nvPr/>
          </p:nvSpPr>
          <p:spPr>
            <a:xfrm flipV="true">
              <a:off x="1752886" y="0"/>
              <a:ext cx="0" cy="15759844"/>
            </a:xfrm>
            <a:prstGeom prst="line">
              <a:avLst/>
            </a:prstGeom>
            <a:ln cap="flat" w="25400">
              <a:solidFill>
                <a:srgbClr val="079E5A">
                  <a:alpha val="11765"/>
                </a:srgbClr>
              </a:solidFill>
              <a:prstDash val="solid"/>
              <a:headEnd type="none" len="sm" w="sm"/>
              <a:tailEnd type="none" len="sm" w="sm"/>
            </a:ln>
          </p:spPr>
        </p:sp>
        <p:sp>
          <p:nvSpPr>
            <p:cNvPr name="AutoShape 5" id="5"/>
            <p:cNvSpPr/>
            <p:nvPr/>
          </p:nvSpPr>
          <p:spPr>
            <a:xfrm flipV="true">
              <a:off x="3493073" y="0"/>
              <a:ext cx="0" cy="15759844"/>
            </a:xfrm>
            <a:prstGeom prst="line">
              <a:avLst/>
            </a:prstGeom>
            <a:ln cap="flat" w="25400">
              <a:solidFill>
                <a:srgbClr val="079E5A">
                  <a:alpha val="11765"/>
                </a:srgbClr>
              </a:solidFill>
              <a:prstDash val="solid"/>
              <a:headEnd type="none" len="sm" w="sm"/>
              <a:tailEnd type="none" len="sm" w="sm"/>
            </a:ln>
          </p:spPr>
        </p:sp>
        <p:sp>
          <p:nvSpPr>
            <p:cNvPr name="AutoShape 6" id="6"/>
            <p:cNvSpPr/>
            <p:nvPr/>
          </p:nvSpPr>
          <p:spPr>
            <a:xfrm flipV="true">
              <a:off x="5233259" y="0"/>
              <a:ext cx="0" cy="15759844"/>
            </a:xfrm>
            <a:prstGeom prst="line">
              <a:avLst/>
            </a:prstGeom>
            <a:ln cap="flat" w="25400">
              <a:solidFill>
                <a:srgbClr val="079E5A">
                  <a:alpha val="11765"/>
                </a:srgbClr>
              </a:solidFill>
              <a:prstDash val="solid"/>
              <a:headEnd type="none" len="sm" w="sm"/>
              <a:tailEnd type="none" len="sm" w="sm"/>
            </a:ln>
          </p:spPr>
        </p:sp>
        <p:sp>
          <p:nvSpPr>
            <p:cNvPr name="AutoShape 7" id="7"/>
            <p:cNvSpPr/>
            <p:nvPr/>
          </p:nvSpPr>
          <p:spPr>
            <a:xfrm flipV="true">
              <a:off x="6973446" y="0"/>
              <a:ext cx="0" cy="15759844"/>
            </a:xfrm>
            <a:prstGeom prst="line">
              <a:avLst/>
            </a:prstGeom>
            <a:ln cap="flat" w="25400">
              <a:solidFill>
                <a:srgbClr val="079E5A">
                  <a:alpha val="11765"/>
                </a:srgbClr>
              </a:solidFill>
              <a:prstDash val="solid"/>
              <a:headEnd type="none" len="sm" w="sm"/>
              <a:tailEnd type="none" len="sm" w="sm"/>
            </a:ln>
          </p:spPr>
        </p:sp>
        <p:sp>
          <p:nvSpPr>
            <p:cNvPr name="AutoShape 8" id="8"/>
            <p:cNvSpPr/>
            <p:nvPr/>
          </p:nvSpPr>
          <p:spPr>
            <a:xfrm flipV="true">
              <a:off x="8713632" y="0"/>
              <a:ext cx="0" cy="15759844"/>
            </a:xfrm>
            <a:prstGeom prst="line">
              <a:avLst/>
            </a:prstGeom>
            <a:ln cap="flat" w="25400">
              <a:solidFill>
                <a:srgbClr val="079E5A">
                  <a:alpha val="11765"/>
                </a:srgbClr>
              </a:solidFill>
              <a:prstDash val="solid"/>
              <a:headEnd type="none" len="sm" w="sm"/>
              <a:tailEnd type="none" len="sm" w="sm"/>
            </a:ln>
          </p:spPr>
        </p:sp>
        <p:sp>
          <p:nvSpPr>
            <p:cNvPr name="AutoShape 9" id="9"/>
            <p:cNvSpPr/>
            <p:nvPr/>
          </p:nvSpPr>
          <p:spPr>
            <a:xfrm flipV="true">
              <a:off x="10453819" y="0"/>
              <a:ext cx="0" cy="15759844"/>
            </a:xfrm>
            <a:prstGeom prst="line">
              <a:avLst/>
            </a:prstGeom>
            <a:ln cap="flat" w="25400">
              <a:solidFill>
                <a:srgbClr val="079E5A">
                  <a:alpha val="11765"/>
                </a:srgbClr>
              </a:solidFill>
              <a:prstDash val="solid"/>
              <a:headEnd type="none" len="sm" w="sm"/>
              <a:tailEnd type="none" len="sm" w="sm"/>
            </a:ln>
          </p:spPr>
        </p:sp>
        <p:sp>
          <p:nvSpPr>
            <p:cNvPr name="AutoShape 10" id="10"/>
            <p:cNvSpPr/>
            <p:nvPr/>
          </p:nvSpPr>
          <p:spPr>
            <a:xfrm flipV="true">
              <a:off x="12194005" y="0"/>
              <a:ext cx="0" cy="15759844"/>
            </a:xfrm>
            <a:prstGeom prst="line">
              <a:avLst/>
            </a:prstGeom>
            <a:ln cap="flat" w="25400">
              <a:solidFill>
                <a:srgbClr val="079E5A">
                  <a:alpha val="11765"/>
                </a:srgbClr>
              </a:solidFill>
              <a:prstDash val="solid"/>
              <a:headEnd type="none" len="sm" w="sm"/>
              <a:tailEnd type="none" len="sm" w="sm"/>
            </a:ln>
          </p:spPr>
        </p:sp>
        <p:sp>
          <p:nvSpPr>
            <p:cNvPr name="AutoShape 11" id="11"/>
            <p:cNvSpPr/>
            <p:nvPr/>
          </p:nvSpPr>
          <p:spPr>
            <a:xfrm flipV="true">
              <a:off x="13934192" y="0"/>
              <a:ext cx="0" cy="15759844"/>
            </a:xfrm>
            <a:prstGeom prst="line">
              <a:avLst/>
            </a:prstGeom>
            <a:ln cap="flat" w="25400">
              <a:solidFill>
                <a:srgbClr val="079E5A">
                  <a:alpha val="11765"/>
                </a:srgbClr>
              </a:solidFill>
              <a:prstDash val="solid"/>
              <a:headEnd type="none" len="sm" w="sm"/>
              <a:tailEnd type="none" len="sm" w="sm"/>
            </a:ln>
          </p:spPr>
        </p:sp>
        <p:sp>
          <p:nvSpPr>
            <p:cNvPr name="AutoShape 12" id="12"/>
            <p:cNvSpPr/>
            <p:nvPr/>
          </p:nvSpPr>
          <p:spPr>
            <a:xfrm flipV="true">
              <a:off x="15674378" y="0"/>
              <a:ext cx="0" cy="15759844"/>
            </a:xfrm>
            <a:prstGeom prst="line">
              <a:avLst/>
            </a:prstGeom>
            <a:ln cap="flat" w="25400">
              <a:solidFill>
                <a:srgbClr val="079E5A">
                  <a:alpha val="11765"/>
                </a:srgbClr>
              </a:solidFill>
              <a:prstDash val="solid"/>
              <a:headEnd type="none" len="sm" w="sm"/>
              <a:tailEnd type="none" len="sm" w="sm"/>
            </a:ln>
          </p:spPr>
        </p:sp>
        <p:sp>
          <p:nvSpPr>
            <p:cNvPr name="AutoShape 13" id="13"/>
            <p:cNvSpPr/>
            <p:nvPr/>
          </p:nvSpPr>
          <p:spPr>
            <a:xfrm flipV="true">
              <a:off x="17414564" y="0"/>
              <a:ext cx="0" cy="15759844"/>
            </a:xfrm>
            <a:prstGeom prst="line">
              <a:avLst/>
            </a:prstGeom>
            <a:ln cap="flat" w="25400">
              <a:solidFill>
                <a:srgbClr val="079E5A">
                  <a:alpha val="11765"/>
                </a:srgbClr>
              </a:solidFill>
              <a:prstDash val="solid"/>
              <a:headEnd type="none" len="sm" w="sm"/>
              <a:tailEnd type="none" len="sm" w="sm"/>
            </a:ln>
          </p:spPr>
        </p:sp>
        <p:sp>
          <p:nvSpPr>
            <p:cNvPr name="AutoShape 14" id="14"/>
            <p:cNvSpPr/>
            <p:nvPr/>
          </p:nvSpPr>
          <p:spPr>
            <a:xfrm flipV="true">
              <a:off x="19154751" y="0"/>
              <a:ext cx="0" cy="15759844"/>
            </a:xfrm>
            <a:prstGeom prst="line">
              <a:avLst/>
            </a:prstGeom>
            <a:ln cap="flat" w="25400">
              <a:solidFill>
                <a:srgbClr val="079E5A">
                  <a:alpha val="11765"/>
                </a:srgbClr>
              </a:solidFill>
              <a:prstDash val="solid"/>
              <a:headEnd type="none" len="sm" w="sm"/>
              <a:tailEnd type="none" len="sm" w="sm"/>
            </a:ln>
          </p:spPr>
        </p:sp>
      </p:grpSp>
      <p:grpSp>
        <p:nvGrpSpPr>
          <p:cNvPr name="Group 15" id="15"/>
          <p:cNvGrpSpPr/>
          <p:nvPr/>
        </p:nvGrpSpPr>
        <p:grpSpPr>
          <a:xfrm rot="0">
            <a:off x="7345543" y="3169477"/>
            <a:ext cx="18945897" cy="1894589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0342028" y="-11457159"/>
            <a:ext cx="18945897" cy="1894589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10799999">
            <a:off x="11880696" y="2181416"/>
            <a:ext cx="4128150" cy="686305"/>
          </a:xfrm>
          <a:custGeom>
            <a:avLst/>
            <a:gdLst/>
            <a:ahLst/>
            <a:cxnLst/>
            <a:rect r="r" b="b" t="t" l="l"/>
            <a:pathLst>
              <a:path h="686305" w="4128150">
                <a:moveTo>
                  <a:pt x="0" y="0"/>
                </a:moveTo>
                <a:lnTo>
                  <a:pt x="4128150" y="0"/>
                </a:lnTo>
                <a:lnTo>
                  <a:pt x="4128150" y="686305"/>
                </a:lnTo>
                <a:lnTo>
                  <a:pt x="0" y="6863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0">
            <a:off x="387047" y="1448648"/>
            <a:ext cx="11423934" cy="6457006"/>
          </a:xfrm>
          <a:custGeom>
            <a:avLst/>
            <a:gdLst/>
            <a:ahLst/>
            <a:cxnLst/>
            <a:rect r="r" b="b" t="t" l="l"/>
            <a:pathLst>
              <a:path h="6457006" w="11423934">
                <a:moveTo>
                  <a:pt x="0" y="0"/>
                </a:moveTo>
                <a:lnTo>
                  <a:pt x="11423934" y="0"/>
                </a:lnTo>
                <a:lnTo>
                  <a:pt x="11423934" y="6457006"/>
                </a:lnTo>
                <a:lnTo>
                  <a:pt x="0" y="6457006"/>
                </a:lnTo>
                <a:lnTo>
                  <a:pt x="0" y="0"/>
                </a:lnTo>
                <a:close/>
              </a:path>
            </a:pathLst>
          </a:custGeom>
          <a:blipFill>
            <a:blip r:embed="rId4"/>
            <a:stretch>
              <a:fillRect l="0" t="0" r="0" b="0"/>
            </a:stretch>
          </a:blipFill>
        </p:spPr>
      </p:sp>
      <p:sp>
        <p:nvSpPr>
          <p:cNvPr name="TextBox 23" id="23"/>
          <p:cNvSpPr txBox="true"/>
          <p:nvPr/>
        </p:nvSpPr>
        <p:spPr>
          <a:xfrm rot="0">
            <a:off x="2068726" y="119713"/>
            <a:ext cx="5733887" cy="1006856"/>
          </a:xfrm>
          <a:prstGeom prst="rect">
            <a:avLst/>
          </a:prstGeom>
        </p:spPr>
        <p:txBody>
          <a:bodyPr anchor="t" rtlCol="false" tIns="0" lIns="0" bIns="0" rIns="0">
            <a:spAutoFit/>
          </a:bodyPr>
          <a:lstStyle/>
          <a:p>
            <a:pPr algn="ctr">
              <a:lnSpc>
                <a:spcPts val="8327"/>
              </a:lnSpc>
              <a:spcBef>
                <a:spcPct val="0"/>
              </a:spcBef>
            </a:pPr>
            <a:r>
              <a:rPr lang="en-US" sz="5947">
                <a:solidFill>
                  <a:srgbClr val="FFFFFF"/>
                </a:solidFill>
                <a:latin typeface="Open Sans"/>
                <a:ea typeface="Open Sans"/>
                <a:cs typeface="Open Sans"/>
                <a:sym typeface="Open Sans"/>
              </a:rPr>
              <a:t>dashboard page</a:t>
            </a:r>
          </a:p>
        </p:txBody>
      </p:sp>
      <p:sp>
        <p:nvSpPr>
          <p:cNvPr name="TextBox 24" id="24"/>
          <p:cNvSpPr txBox="true"/>
          <p:nvPr/>
        </p:nvSpPr>
        <p:spPr>
          <a:xfrm rot="0">
            <a:off x="12045289" y="3285005"/>
            <a:ext cx="6021123" cy="4376402"/>
          </a:xfrm>
          <a:prstGeom prst="rect">
            <a:avLst/>
          </a:prstGeom>
        </p:spPr>
        <p:txBody>
          <a:bodyPr anchor="t" rtlCol="false" tIns="0" lIns="0" bIns="0" rIns="0">
            <a:spAutoFit/>
          </a:bodyPr>
          <a:lstStyle/>
          <a:p>
            <a:pPr algn="ctr">
              <a:lnSpc>
                <a:spcPts val="7019"/>
              </a:lnSpc>
              <a:spcBef>
                <a:spcPct val="0"/>
              </a:spcBef>
            </a:pPr>
            <a:r>
              <a:rPr lang="en-US" sz="5014">
                <a:solidFill>
                  <a:srgbClr val="FFFFFF"/>
                </a:solidFill>
                <a:latin typeface="Open Sans"/>
                <a:ea typeface="Open Sans"/>
                <a:cs typeface="Open Sans"/>
                <a:sym typeface="Open Sans"/>
              </a:rPr>
              <a:t>in the dashboard page you can have a ai review for your current bussiness situation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F3129"/>
        </a:solidFill>
      </p:bgPr>
    </p:bg>
    <p:spTree>
      <p:nvGrpSpPr>
        <p:cNvPr id="1" name=""/>
        <p:cNvGrpSpPr/>
        <p:nvPr/>
      </p:nvGrpSpPr>
      <p:grpSpPr>
        <a:xfrm>
          <a:off x="0" y="0"/>
          <a:ext cx="0" cy="0"/>
          <a:chOff x="0" y="0"/>
          <a:chExt cx="0" cy="0"/>
        </a:xfrm>
      </p:grpSpPr>
      <p:grpSp>
        <p:nvGrpSpPr>
          <p:cNvPr name="Group 2" id="2"/>
          <p:cNvGrpSpPr/>
          <p:nvPr/>
        </p:nvGrpSpPr>
        <p:grpSpPr>
          <a:xfrm rot="0">
            <a:off x="1633258" y="-674171"/>
            <a:ext cx="14375588" cy="11819883"/>
            <a:chOff x="0" y="0"/>
            <a:chExt cx="19167451" cy="15759844"/>
          </a:xfrm>
        </p:grpSpPr>
        <p:sp>
          <p:nvSpPr>
            <p:cNvPr name="AutoShape 3" id="3"/>
            <p:cNvSpPr/>
            <p:nvPr/>
          </p:nvSpPr>
          <p:spPr>
            <a:xfrm flipV="true">
              <a:off x="12700" y="0"/>
              <a:ext cx="0" cy="15759844"/>
            </a:xfrm>
            <a:prstGeom prst="line">
              <a:avLst/>
            </a:prstGeom>
            <a:ln cap="flat" w="25400">
              <a:solidFill>
                <a:srgbClr val="079E5A">
                  <a:alpha val="11765"/>
                </a:srgbClr>
              </a:solidFill>
              <a:prstDash val="solid"/>
              <a:headEnd type="none" len="sm" w="sm"/>
              <a:tailEnd type="none" len="sm" w="sm"/>
            </a:ln>
          </p:spPr>
        </p:sp>
        <p:sp>
          <p:nvSpPr>
            <p:cNvPr name="AutoShape 4" id="4"/>
            <p:cNvSpPr/>
            <p:nvPr/>
          </p:nvSpPr>
          <p:spPr>
            <a:xfrm flipV="true">
              <a:off x="1752886" y="0"/>
              <a:ext cx="0" cy="15759844"/>
            </a:xfrm>
            <a:prstGeom prst="line">
              <a:avLst/>
            </a:prstGeom>
            <a:ln cap="flat" w="25400">
              <a:solidFill>
                <a:srgbClr val="079E5A">
                  <a:alpha val="11765"/>
                </a:srgbClr>
              </a:solidFill>
              <a:prstDash val="solid"/>
              <a:headEnd type="none" len="sm" w="sm"/>
              <a:tailEnd type="none" len="sm" w="sm"/>
            </a:ln>
          </p:spPr>
        </p:sp>
        <p:sp>
          <p:nvSpPr>
            <p:cNvPr name="AutoShape 5" id="5"/>
            <p:cNvSpPr/>
            <p:nvPr/>
          </p:nvSpPr>
          <p:spPr>
            <a:xfrm flipV="true">
              <a:off x="3493073" y="0"/>
              <a:ext cx="0" cy="15759844"/>
            </a:xfrm>
            <a:prstGeom prst="line">
              <a:avLst/>
            </a:prstGeom>
            <a:ln cap="flat" w="25400">
              <a:solidFill>
                <a:srgbClr val="079E5A">
                  <a:alpha val="11765"/>
                </a:srgbClr>
              </a:solidFill>
              <a:prstDash val="solid"/>
              <a:headEnd type="none" len="sm" w="sm"/>
              <a:tailEnd type="none" len="sm" w="sm"/>
            </a:ln>
          </p:spPr>
        </p:sp>
        <p:sp>
          <p:nvSpPr>
            <p:cNvPr name="AutoShape 6" id="6"/>
            <p:cNvSpPr/>
            <p:nvPr/>
          </p:nvSpPr>
          <p:spPr>
            <a:xfrm flipV="true">
              <a:off x="5233259" y="0"/>
              <a:ext cx="0" cy="15759844"/>
            </a:xfrm>
            <a:prstGeom prst="line">
              <a:avLst/>
            </a:prstGeom>
            <a:ln cap="flat" w="25400">
              <a:solidFill>
                <a:srgbClr val="079E5A">
                  <a:alpha val="11765"/>
                </a:srgbClr>
              </a:solidFill>
              <a:prstDash val="solid"/>
              <a:headEnd type="none" len="sm" w="sm"/>
              <a:tailEnd type="none" len="sm" w="sm"/>
            </a:ln>
          </p:spPr>
        </p:sp>
        <p:sp>
          <p:nvSpPr>
            <p:cNvPr name="AutoShape 7" id="7"/>
            <p:cNvSpPr/>
            <p:nvPr/>
          </p:nvSpPr>
          <p:spPr>
            <a:xfrm flipV="true">
              <a:off x="6973446" y="0"/>
              <a:ext cx="0" cy="15759844"/>
            </a:xfrm>
            <a:prstGeom prst="line">
              <a:avLst/>
            </a:prstGeom>
            <a:ln cap="flat" w="25400">
              <a:solidFill>
                <a:srgbClr val="079E5A">
                  <a:alpha val="11765"/>
                </a:srgbClr>
              </a:solidFill>
              <a:prstDash val="solid"/>
              <a:headEnd type="none" len="sm" w="sm"/>
              <a:tailEnd type="none" len="sm" w="sm"/>
            </a:ln>
          </p:spPr>
        </p:sp>
        <p:sp>
          <p:nvSpPr>
            <p:cNvPr name="AutoShape 8" id="8"/>
            <p:cNvSpPr/>
            <p:nvPr/>
          </p:nvSpPr>
          <p:spPr>
            <a:xfrm flipV="true">
              <a:off x="8713632" y="0"/>
              <a:ext cx="0" cy="15759844"/>
            </a:xfrm>
            <a:prstGeom prst="line">
              <a:avLst/>
            </a:prstGeom>
            <a:ln cap="flat" w="25400">
              <a:solidFill>
                <a:srgbClr val="079E5A">
                  <a:alpha val="11765"/>
                </a:srgbClr>
              </a:solidFill>
              <a:prstDash val="solid"/>
              <a:headEnd type="none" len="sm" w="sm"/>
              <a:tailEnd type="none" len="sm" w="sm"/>
            </a:ln>
          </p:spPr>
        </p:sp>
        <p:sp>
          <p:nvSpPr>
            <p:cNvPr name="AutoShape 9" id="9"/>
            <p:cNvSpPr/>
            <p:nvPr/>
          </p:nvSpPr>
          <p:spPr>
            <a:xfrm flipV="true">
              <a:off x="10453819" y="0"/>
              <a:ext cx="0" cy="15759844"/>
            </a:xfrm>
            <a:prstGeom prst="line">
              <a:avLst/>
            </a:prstGeom>
            <a:ln cap="flat" w="25400">
              <a:solidFill>
                <a:srgbClr val="079E5A">
                  <a:alpha val="11765"/>
                </a:srgbClr>
              </a:solidFill>
              <a:prstDash val="solid"/>
              <a:headEnd type="none" len="sm" w="sm"/>
              <a:tailEnd type="none" len="sm" w="sm"/>
            </a:ln>
          </p:spPr>
        </p:sp>
        <p:sp>
          <p:nvSpPr>
            <p:cNvPr name="AutoShape 10" id="10"/>
            <p:cNvSpPr/>
            <p:nvPr/>
          </p:nvSpPr>
          <p:spPr>
            <a:xfrm flipV="true">
              <a:off x="12194005" y="0"/>
              <a:ext cx="0" cy="15759844"/>
            </a:xfrm>
            <a:prstGeom prst="line">
              <a:avLst/>
            </a:prstGeom>
            <a:ln cap="flat" w="25400">
              <a:solidFill>
                <a:srgbClr val="079E5A">
                  <a:alpha val="11765"/>
                </a:srgbClr>
              </a:solidFill>
              <a:prstDash val="solid"/>
              <a:headEnd type="none" len="sm" w="sm"/>
              <a:tailEnd type="none" len="sm" w="sm"/>
            </a:ln>
          </p:spPr>
        </p:sp>
        <p:sp>
          <p:nvSpPr>
            <p:cNvPr name="AutoShape 11" id="11"/>
            <p:cNvSpPr/>
            <p:nvPr/>
          </p:nvSpPr>
          <p:spPr>
            <a:xfrm flipV="true">
              <a:off x="13934192" y="0"/>
              <a:ext cx="0" cy="15759844"/>
            </a:xfrm>
            <a:prstGeom prst="line">
              <a:avLst/>
            </a:prstGeom>
            <a:ln cap="flat" w="25400">
              <a:solidFill>
                <a:srgbClr val="079E5A">
                  <a:alpha val="11765"/>
                </a:srgbClr>
              </a:solidFill>
              <a:prstDash val="solid"/>
              <a:headEnd type="none" len="sm" w="sm"/>
              <a:tailEnd type="none" len="sm" w="sm"/>
            </a:ln>
          </p:spPr>
        </p:sp>
        <p:sp>
          <p:nvSpPr>
            <p:cNvPr name="AutoShape 12" id="12"/>
            <p:cNvSpPr/>
            <p:nvPr/>
          </p:nvSpPr>
          <p:spPr>
            <a:xfrm flipV="true">
              <a:off x="15674378" y="0"/>
              <a:ext cx="0" cy="15759844"/>
            </a:xfrm>
            <a:prstGeom prst="line">
              <a:avLst/>
            </a:prstGeom>
            <a:ln cap="flat" w="25400">
              <a:solidFill>
                <a:srgbClr val="079E5A">
                  <a:alpha val="11765"/>
                </a:srgbClr>
              </a:solidFill>
              <a:prstDash val="solid"/>
              <a:headEnd type="none" len="sm" w="sm"/>
              <a:tailEnd type="none" len="sm" w="sm"/>
            </a:ln>
          </p:spPr>
        </p:sp>
        <p:sp>
          <p:nvSpPr>
            <p:cNvPr name="AutoShape 13" id="13"/>
            <p:cNvSpPr/>
            <p:nvPr/>
          </p:nvSpPr>
          <p:spPr>
            <a:xfrm flipV="true">
              <a:off x="17414564" y="0"/>
              <a:ext cx="0" cy="15759844"/>
            </a:xfrm>
            <a:prstGeom prst="line">
              <a:avLst/>
            </a:prstGeom>
            <a:ln cap="flat" w="25400">
              <a:solidFill>
                <a:srgbClr val="079E5A">
                  <a:alpha val="11765"/>
                </a:srgbClr>
              </a:solidFill>
              <a:prstDash val="solid"/>
              <a:headEnd type="none" len="sm" w="sm"/>
              <a:tailEnd type="none" len="sm" w="sm"/>
            </a:ln>
          </p:spPr>
        </p:sp>
        <p:sp>
          <p:nvSpPr>
            <p:cNvPr name="AutoShape 14" id="14"/>
            <p:cNvSpPr/>
            <p:nvPr/>
          </p:nvSpPr>
          <p:spPr>
            <a:xfrm flipV="true">
              <a:off x="19154751" y="0"/>
              <a:ext cx="0" cy="15759844"/>
            </a:xfrm>
            <a:prstGeom prst="line">
              <a:avLst/>
            </a:prstGeom>
            <a:ln cap="flat" w="25400">
              <a:solidFill>
                <a:srgbClr val="079E5A">
                  <a:alpha val="11765"/>
                </a:srgbClr>
              </a:solidFill>
              <a:prstDash val="solid"/>
              <a:headEnd type="none" len="sm" w="sm"/>
              <a:tailEnd type="none" len="sm" w="sm"/>
            </a:ln>
          </p:spPr>
        </p:sp>
      </p:grpSp>
      <p:grpSp>
        <p:nvGrpSpPr>
          <p:cNvPr name="Group 15" id="15"/>
          <p:cNvGrpSpPr/>
          <p:nvPr/>
        </p:nvGrpSpPr>
        <p:grpSpPr>
          <a:xfrm rot="0">
            <a:off x="7345543" y="3169477"/>
            <a:ext cx="18945897" cy="1894589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0342028" y="-11457159"/>
            <a:ext cx="18945897" cy="1894589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491627" y="1222968"/>
            <a:ext cx="13025306" cy="2738654"/>
          </a:xfrm>
          <a:custGeom>
            <a:avLst/>
            <a:gdLst/>
            <a:ahLst/>
            <a:cxnLst/>
            <a:rect r="r" b="b" t="t" l="l"/>
            <a:pathLst>
              <a:path h="2738654" w="13025306">
                <a:moveTo>
                  <a:pt x="0" y="0"/>
                </a:moveTo>
                <a:lnTo>
                  <a:pt x="13025306" y="0"/>
                </a:lnTo>
                <a:lnTo>
                  <a:pt x="13025306" y="2738654"/>
                </a:lnTo>
                <a:lnTo>
                  <a:pt x="0" y="2738654"/>
                </a:lnTo>
                <a:lnTo>
                  <a:pt x="0" y="0"/>
                </a:lnTo>
                <a:close/>
              </a:path>
            </a:pathLst>
          </a:custGeom>
          <a:blipFill>
            <a:blip r:embed="rId2"/>
            <a:stretch>
              <a:fillRect l="0" t="0" r="0" b="0"/>
            </a:stretch>
          </a:blipFill>
        </p:spPr>
      </p:sp>
      <p:sp>
        <p:nvSpPr>
          <p:cNvPr name="Freeform 22" id="22"/>
          <p:cNvSpPr/>
          <p:nvPr/>
        </p:nvSpPr>
        <p:spPr>
          <a:xfrm flipH="false" flipV="false" rot="-10799999">
            <a:off x="10865700" y="3045783"/>
            <a:ext cx="4128150" cy="686305"/>
          </a:xfrm>
          <a:custGeom>
            <a:avLst/>
            <a:gdLst/>
            <a:ahLst/>
            <a:cxnLst/>
            <a:rect r="r" b="b" t="t" l="l"/>
            <a:pathLst>
              <a:path h="686305" w="4128150">
                <a:moveTo>
                  <a:pt x="0" y="0"/>
                </a:moveTo>
                <a:lnTo>
                  <a:pt x="4128150" y="0"/>
                </a:lnTo>
                <a:lnTo>
                  <a:pt x="4128150" y="686304"/>
                </a:lnTo>
                <a:lnTo>
                  <a:pt x="0" y="6863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3" id="23"/>
          <p:cNvSpPr/>
          <p:nvPr/>
        </p:nvSpPr>
        <p:spPr>
          <a:xfrm flipH="false" flipV="false" rot="0">
            <a:off x="362052" y="4084022"/>
            <a:ext cx="13010132" cy="5959480"/>
          </a:xfrm>
          <a:custGeom>
            <a:avLst/>
            <a:gdLst/>
            <a:ahLst/>
            <a:cxnLst/>
            <a:rect r="r" b="b" t="t" l="l"/>
            <a:pathLst>
              <a:path h="5959480" w="13010132">
                <a:moveTo>
                  <a:pt x="0" y="0"/>
                </a:moveTo>
                <a:lnTo>
                  <a:pt x="13010132" y="0"/>
                </a:lnTo>
                <a:lnTo>
                  <a:pt x="13010132" y="5959480"/>
                </a:lnTo>
                <a:lnTo>
                  <a:pt x="0" y="5959480"/>
                </a:lnTo>
                <a:lnTo>
                  <a:pt x="0" y="0"/>
                </a:lnTo>
                <a:close/>
              </a:path>
            </a:pathLst>
          </a:custGeom>
          <a:blipFill>
            <a:blip r:embed="rId5"/>
            <a:stretch>
              <a:fillRect l="0" t="0" r="0" b="0"/>
            </a:stretch>
          </a:blipFill>
        </p:spPr>
      </p:sp>
      <p:sp>
        <p:nvSpPr>
          <p:cNvPr name="TextBox 24" id="24"/>
          <p:cNvSpPr txBox="true"/>
          <p:nvPr/>
        </p:nvSpPr>
        <p:spPr>
          <a:xfrm rot="0">
            <a:off x="2068726" y="119713"/>
            <a:ext cx="5733887" cy="1006856"/>
          </a:xfrm>
          <a:prstGeom prst="rect">
            <a:avLst/>
          </a:prstGeom>
        </p:spPr>
        <p:txBody>
          <a:bodyPr anchor="t" rtlCol="false" tIns="0" lIns="0" bIns="0" rIns="0">
            <a:spAutoFit/>
          </a:bodyPr>
          <a:lstStyle/>
          <a:p>
            <a:pPr algn="ctr">
              <a:lnSpc>
                <a:spcPts val="8327"/>
              </a:lnSpc>
              <a:spcBef>
                <a:spcPct val="0"/>
              </a:spcBef>
            </a:pPr>
            <a:r>
              <a:rPr lang="en-US" sz="5947">
                <a:solidFill>
                  <a:srgbClr val="FFFFFF"/>
                </a:solidFill>
                <a:latin typeface="Open Sans"/>
                <a:ea typeface="Open Sans"/>
                <a:cs typeface="Open Sans"/>
                <a:sym typeface="Open Sans"/>
              </a:rPr>
              <a:t>dashboard page</a:t>
            </a:r>
          </a:p>
        </p:txBody>
      </p:sp>
      <p:sp>
        <p:nvSpPr>
          <p:cNvPr name="TextBox 25" id="25"/>
          <p:cNvSpPr txBox="true"/>
          <p:nvPr/>
        </p:nvSpPr>
        <p:spPr>
          <a:xfrm rot="0">
            <a:off x="13372184" y="3875897"/>
            <a:ext cx="4580842" cy="4762970"/>
          </a:xfrm>
          <a:prstGeom prst="rect">
            <a:avLst/>
          </a:prstGeom>
        </p:spPr>
        <p:txBody>
          <a:bodyPr anchor="t" rtlCol="false" tIns="0" lIns="0" bIns="0" rIns="0">
            <a:spAutoFit/>
          </a:bodyPr>
          <a:lstStyle/>
          <a:p>
            <a:pPr algn="ctr">
              <a:lnSpc>
                <a:spcPts val="6350"/>
              </a:lnSpc>
              <a:spcBef>
                <a:spcPct val="0"/>
              </a:spcBef>
            </a:pPr>
            <a:r>
              <a:rPr lang="en-US" b="true" sz="4536">
                <a:solidFill>
                  <a:srgbClr val="F9F8F4"/>
                </a:solidFill>
                <a:latin typeface="Open Sans Bold"/>
                <a:ea typeface="Open Sans Bold"/>
                <a:cs typeface="Open Sans Bold"/>
                <a:sym typeface="Open Sans Bold"/>
              </a:rPr>
              <a:t>B2B section with all the contact of big tunisian sellers and latest offers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F3129"/>
        </a:solidFill>
      </p:bgPr>
    </p:bg>
    <p:spTree>
      <p:nvGrpSpPr>
        <p:cNvPr id="1" name=""/>
        <p:cNvGrpSpPr/>
        <p:nvPr/>
      </p:nvGrpSpPr>
      <p:grpSpPr>
        <a:xfrm>
          <a:off x="0" y="0"/>
          <a:ext cx="0" cy="0"/>
          <a:chOff x="0" y="0"/>
          <a:chExt cx="0" cy="0"/>
        </a:xfrm>
      </p:grpSpPr>
      <p:grpSp>
        <p:nvGrpSpPr>
          <p:cNvPr name="Group 2" id="2"/>
          <p:cNvGrpSpPr/>
          <p:nvPr/>
        </p:nvGrpSpPr>
        <p:grpSpPr>
          <a:xfrm rot="0">
            <a:off x="1633258" y="-674171"/>
            <a:ext cx="14375588" cy="11819883"/>
            <a:chOff x="0" y="0"/>
            <a:chExt cx="19167451" cy="15759844"/>
          </a:xfrm>
        </p:grpSpPr>
        <p:sp>
          <p:nvSpPr>
            <p:cNvPr name="AutoShape 3" id="3"/>
            <p:cNvSpPr/>
            <p:nvPr/>
          </p:nvSpPr>
          <p:spPr>
            <a:xfrm flipV="true">
              <a:off x="12700" y="0"/>
              <a:ext cx="0" cy="15759844"/>
            </a:xfrm>
            <a:prstGeom prst="line">
              <a:avLst/>
            </a:prstGeom>
            <a:ln cap="flat" w="25400">
              <a:solidFill>
                <a:srgbClr val="079E5A">
                  <a:alpha val="11765"/>
                </a:srgbClr>
              </a:solidFill>
              <a:prstDash val="solid"/>
              <a:headEnd type="none" len="sm" w="sm"/>
              <a:tailEnd type="none" len="sm" w="sm"/>
            </a:ln>
          </p:spPr>
        </p:sp>
        <p:sp>
          <p:nvSpPr>
            <p:cNvPr name="AutoShape 4" id="4"/>
            <p:cNvSpPr/>
            <p:nvPr/>
          </p:nvSpPr>
          <p:spPr>
            <a:xfrm flipV="true">
              <a:off x="1752886" y="0"/>
              <a:ext cx="0" cy="15759844"/>
            </a:xfrm>
            <a:prstGeom prst="line">
              <a:avLst/>
            </a:prstGeom>
            <a:ln cap="flat" w="25400">
              <a:solidFill>
                <a:srgbClr val="079E5A">
                  <a:alpha val="11765"/>
                </a:srgbClr>
              </a:solidFill>
              <a:prstDash val="solid"/>
              <a:headEnd type="none" len="sm" w="sm"/>
              <a:tailEnd type="none" len="sm" w="sm"/>
            </a:ln>
          </p:spPr>
        </p:sp>
        <p:sp>
          <p:nvSpPr>
            <p:cNvPr name="AutoShape 5" id="5"/>
            <p:cNvSpPr/>
            <p:nvPr/>
          </p:nvSpPr>
          <p:spPr>
            <a:xfrm flipV="true">
              <a:off x="3493073" y="0"/>
              <a:ext cx="0" cy="15759844"/>
            </a:xfrm>
            <a:prstGeom prst="line">
              <a:avLst/>
            </a:prstGeom>
            <a:ln cap="flat" w="25400">
              <a:solidFill>
                <a:srgbClr val="079E5A">
                  <a:alpha val="11765"/>
                </a:srgbClr>
              </a:solidFill>
              <a:prstDash val="solid"/>
              <a:headEnd type="none" len="sm" w="sm"/>
              <a:tailEnd type="none" len="sm" w="sm"/>
            </a:ln>
          </p:spPr>
        </p:sp>
        <p:sp>
          <p:nvSpPr>
            <p:cNvPr name="AutoShape 6" id="6"/>
            <p:cNvSpPr/>
            <p:nvPr/>
          </p:nvSpPr>
          <p:spPr>
            <a:xfrm flipV="true">
              <a:off x="5233259" y="0"/>
              <a:ext cx="0" cy="15759844"/>
            </a:xfrm>
            <a:prstGeom prst="line">
              <a:avLst/>
            </a:prstGeom>
            <a:ln cap="flat" w="25400">
              <a:solidFill>
                <a:srgbClr val="079E5A">
                  <a:alpha val="11765"/>
                </a:srgbClr>
              </a:solidFill>
              <a:prstDash val="solid"/>
              <a:headEnd type="none" len="sm" w="sm"/>
              <a:tailEnd type="none" len="sm" w="sm"/>
            </a:ln>
          </p:spPr>
        </p:sp>
        <p:sp>
          <p:nvSpPr>
            <p:cNvPr name="AutoShape 7" id="7"/>
            <p:cNvSpPr/>
            <p:nvPr/>
          </p:nvSpPr>
          <p:spPr>
            <a:xfrm flipV="true">
              <a:off x="6973446" y="0"/>
              <a:ext cx="0" cy="15759844"/>
            </a:xfrm>
            <a:prstGeom prst="line">
              <a:avLst/>
            </a:prstGeom>
            <a:ln cap="flat" w="25400">
              <a:solidFill>
                <a:srgbClr val="079E5A">
                  <a:alpha val="11765"/>
                </a:srgbClr>
              </a:solidFill>
              <a:prstDash val="solid"/>
              <a:headEnd type="none" len="sm" w="sm"/>
              <a:tailEnd type="none" len="sm" w="sm"/>
            </a:ln>
          </p:spPr>
        </p:sp>
        <p:sp>
          <p:nvSpPr>
            <p:cNvPr name="AutoShape 8" id="8"/>
            <p:cNvSpPr/>
            <p:nvPr/>
          </p:nvSpPr>
          <p:spPr>
            <a:xfrm flipV="true">
              <a:off x="8713632" y="0"/>
              <a:ext cx="0" cy="15759844"/>
            </a:xfrm>
            <a:prstGeom prst="line">
              <a:avLst/>
            </a:prstGeom>
            <a:ln cap="flat" w="25400">
              <a:solidFill>
                <a:srgbClr val="079E5A">
                  <a:alpha val="11765"/>
                </a:srgbClr>
              </a:solidFill>
              <a:prstDash val="solid"/>
              <a:headEnd type="none" len="sm" w="sm"/>
              <a:tailEnd type="none" len="sm" w="sm"/>
            </a:ln>
          </p:spPr>
        </p:sp>
        <p:sp>
          <p:nvSpPr>
            <p:cNvPr name="AutoShape 9" id="9"/>
            <p:cNvSpPr/>
            <p:nvPr/>
          </p:nvSpPr>
          <p:spPr>
            <a:xfrm flipV="true">
              <a:off x="10453819" y="0"/>
              <a:ext cx="0" cy="15759844"/>
            </a:xfrm>
            <a:prstGeom prst="line">
              <a:avLst/>
            </a:prstGeom>
            <a:ln cap="flat" w="25400">
              <a:solidFill>
                <a:srgbClr val="079E5A">
                  <a:alpha val="11765"/>
                </a:srgbClr>
              </a:solidFill>
              <a:prstDash val="solid"/>
              <a:headEnd type="none" len="sm" w="sm"/>
              <a:tailEnd type="none" len="sm" w="sm"/>
            </a:ln>
          </p:spPr>
        </p:sp>
        <p:sp>
          <p:nvSpPr>
            <p:cNvPr name="AutoShape 10" id="10"/>
            <p:cNvSpPr/>
            <p:nvPr/>
          </p:nvSpPr>
          <p:spPr>
            <a:xfrm flipV="true">
              <a:off x="12194005" y="0"/>
              <a:ext cx="0" cy="15759844"/>
            </a:xfrm>
            <a:prstGeom prst="line">
              <a:avLst/>
            </a:prstGeom>
            <a:ln cap="flat" w="25400">
              <a:solidFill>
                <a:srgbClr val="079E5A">
                  <a:alpha val="11765"/>
                </a:srgbClr>
              </a:solidFill>
              <a:prstDash val="solid"/>
              <a:headEnd type="none" len="sm" w="sm"/>
              <a:tailEnd type="none" len="sm" w="sm"/>
            </a:ln>
          </p:spPr>
        </p:sp>
        <p:sp>
          <p:nvSpPr>
            <p:cNvPr name="AutoShape 11" id="11"/>
            <p:cNvSpPr/>
            <p:nvPr/>
          </p:nvSpPr>
          <p:spPr>
            <a:xfrm flipV="true">
              <a:off x="13934192" y="0"/>
              <a:ext cx="0" cy="15759844"/>
            </a:xfrm>
            <a:prstGeom prst="line">
              <a:avLst/>
            </a:prstGeom>
            <a:ln cap="flat" w="25400">
              <a:solidFill>
                <a:srgbClr val="079E5A">
                  <a:alpha val="11765"/>
                </a:srgbClr>
              </a:solidFill>
              <a:prstDash val="solid"/>
              <a:headEnd type="none" len="sm" w="sm"/>
              <a:tailEnd type="none" len="sm" w="sm"/>
            </a:ln>
          </p:spPr>
        </p:sp>
        <p:sp>
          <p:nvSpPr>
            <p:cNvPr name="AutoShape 12" id="12"/>
            <p:cNvSpPr/>
            <p:nvPr/>
          </p:nvSpPr>
          <p:spPr>
            <a:xfrm flipV="true">
              <a:off x="15674378" y="0"/>
              <a:ext cx="0" cy="15759844"/>
            </a:xfrm>
            <a:prstGeom prst="line">
              <a:avLst/>
            </a:prstGeom>
            <a:ln cap="flat" w="25400">
              <a:solidFill>
                <a:srgbClr val="079E5A">
                  <a:alpha val="11765"/>
                </a:srgbClr>
              </a:solidFill>
              <a:prstDash val="solid"/>
              <a:headEnd type="none" len="sm" w="sm"/>
              <a:tailEnd type="none" len="sm" w="sm"/>
            </a:ln>
          </p:spPr>
        </p:sp>
        <p:sp>
          <p:nvSpPr>
            <p:cNvPr name="AutoShape 13" id="13"/>
            <p:cNvSpPr/>
            <p:nvPr/>
          </p:nvSpPr>
          <p:spPr>
            <a:xfrm flipV="true">
              <a:off x="17414564" y="0"/>
              <a:ext cx="0" cy="15759844"/>
            </a:xfrm>
            <a:prstGeom prst="line">
              <a:avLst/>
            </a:prstGeom>
            <a:ln cap="flat" w="25400">
              <a:solidFill>
                <a:srgbClr val="079E5A">
                  <a:alpha val="11765"/>
                </a:srgbClr>
              </a:solidFill>
              <a:prstDash val="solid"/>
              <a:headEnd type="none" len="sm" w="sm"/>
              <a:tailEnd type="none" len="sm" w="sm"/>
            </a:ln>
          </p:spPr>
        </p:sp>
        <p:sp>
          <p:nvSpPr>
            <p:cNvPr name="AutoShape 14" id="14"/>
            <p:cNvSpPr/>
            <p:nvPr/>
          </p:nvSpPr>
          <p:spPr>
            <a:xfrm flipV="true">
              <a:off x="19154751" y="0"/>
              <a:ext cx="0" cy="15759844"/>
            </a:xfrm>
            <a:prstGeom prst="line">
              <a:avLst/>
            </a:prstGeom>
            <a:ln cap="flat" w="25400">
              <a:solidFill>
                <a:srgbClr val="079E5A">
                  <a:alpha val="11765"/>
                </a:srgbClr>
              </a:solidFill>
              <a:prstDash val="solid"/>
              <a:headEnd type="none" len="sm" w="sm"/>
              <a:tailEnd type="none" len="sm" w="sm"/>
            </a:ln>
          </p:spPr>
        </p:sp>
      </p:grpSp>
      <p:grpSp>
        <p:nvGrpSpPr>
          <p:cNvPr name="Group 15" id="15"/>
          <p:cNvGrpSpPr/>
          <p:nvPr/>
        </p:nvGrpSpPr>
        <p:grpSpPr>
          <a:xfrm rot="0">
            <a:off x="7345543" y="3169477"/>
            <a:ext cx="18945897" cy="1894589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0342028" y="-11457159"/>
            <a:ext cx="18945897" cy="1894589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491627" y="1222968"/>
            <a:ext cx="13025306" cy="2738654"/>
          </a:xfrm>
          <a:custGeom>
            <a:avLst/>
            <a:gdLst/>
            <a:ahLst/>
            <a:cxnLst/>
            <a:rect r="r" b="b" t="t" l="l"/>
            <a:pathLst>
              <a:path h="2738654" w="13025306">
                <a:moveTo>
                  <a:pt x="0" y="0"/>
                </a:moveTo>
                <a:lnTo>
                  <a:pt x="13025306" y="0"/>
                </a:lnTo>
                <a:lnTo>
                  <a:pt x="13025306" y="2738654"/>
                </a:lnTo>
                <a:lnTo>
                  <a:pt x="0" y="2738654"/>
                </a:lnTo>
                <a:lnTo>
                  <a:pt x="0" y="0"/>
                </a:lnTo>
                <a:close/>
              </a:path>
            </a:pathLst>
          </a:custGeom>
          <a:blipFill>
            <a:blip r:embed="rId2"/>
            <a:stretch>
              <a:fillRect l="0" t="0" r="0" b="0"/>
            </a:stretch>
          </a:blipFill>
        </p:spPr>
      </p:sp>
      <p:sp>
        <p:nvSpPr>
          <p:cNvPr name="Freeform 22" id="22"/>
          <p:cNvSpPr/>
          <p:nvPr/>
        </p:nvSpPr>
        <p:spPr>
          <a:xfrm flipH="false" flipV="false" rot="-10799999">
            <a:off x="10865700" y="3045783"/>
            <a:ext cx="4128150" cy="686305"/>
          </a:xfrm>
          <a:custGeom>
            <a:avLst/>
            <a:gdLst/>
            <a:ahLst/>
            <a:cxnLst/>
            <a:rect r="r" b="b" t="t" l="l"/>
            <a:pathLst>
              <a:path h="686305" w="4128150">
                <a:moveTo>
                  <a:pt x="0" y="0"/>
                </a:moveTo>
                <a:lnTo>
                  <a:pt x="4128150" y="0"/>
                </a:lnTo>
                <a:lnTo>
                  <a:pt x="4128150" y="686304"/>
                </a:lnTo>
                <a:lnTo>
                  <a:pt x="0" y="6863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3" id="23"/>
          <p:cNvSpPr/>
          <p:nvPr/>
        </p:nvSpPr>
        <p:spPr>
          <a:xfrm flipH="false" flipV="false" rot="0">
            <a:off x="362052" y="4084022"/>
            <a:ext cx="13010132" cy="5959480"/>
          </a:xfrm>
          <a:custGeom>
            <a:avLst/>
            <a:gdLst/>
            <a:ahLst/>
            <a:cxnLst/>
            <a:rect r="r" b="b" t="t" l="l"/>
            <a:pathLst>
              <a:path h="5959480" w="13010132">
                <a:moveTo>
                  <a:pt x="0" y="0"/>
                </a:moveTo>
                <a:lnTo>
                  <a:pt x="13010132" y="0"/>
                </a:lnTo>
                <a:lnTo>
                  <a:pt x="13010132" y="5959480"/>
                </a:lnTo>
                <a:lnTo>
                  <a:pt x="0" y="5959480"/>
                </a:lnTo>
                <a:lnTo>
                  <a:pt x="0" y="0"/>
                </a:lnTo>
                <a:close/>
              </a:path>
            </a:pathLst>
          </a:custGeom>
          <a:blipFill>
            <a:blip r:embed="rId5"/>
            <a:stretch>
              <a:fillRect l="0" t="0" r="0" b="0"/>
            </a:stretch>
          </a:blipFill>
        </p:spPr>
      </p:sp>
      <p:sp>
        <p:nvSpPr>
          <p:cNvPr name="TextBox 24" id="24"/>
          <p:cNvSpPr txBox="true"/>
          <p:nvPr/>
        </p:nvSpPr>
        <p:spPr>
          <a:xfrm rot="0">
            <a:off x="4230200" y="119713"/>
            <a:ext cx="1410939" cy="1006856"/>
          </a:xfrm>
          <a:prstGeom prst="rect">
            <a:avLst/>
          </a:prstGeom>
        </p:spPr>
        <p:txBody>
          <a:bodyPr anchor="t" rtlCol="false" tIns="0" lIns="0" bIns="0" rIns="0">
            <a:spAutoFit/>
          </a:bodyPr>
          <a:lstStyle/>
          <a:p>
            <a:pPr algn="ctr">
              <a:lnSpc>
                <a:spcPts val="8327"/>
              </a:lnSpc>
              <a:spcBef>
                <a:spcPct val="0"/>
              </a:spcBef>
            </a:pPr>
            <a:r>
              <a:rPr lang="en-US" sz="5947">
                <a:solidFill>
                  <a:srgbClr val="FFFFFF"/>
                </a:solidFill>
                <a:latin typeface="Open Sans"/>
                <a:ea typeface="Open Sans"/>
                <a:cs typeface="Open Sans"/>
                <a:sym typeface="Open Sans"/>
              </a:rPr>
              <a:t>B2B</a:t>
            </a:r>
          </a:p>
        </p:txBody>
      </p:sp>
      <p:sp>
        <p:nvSpPr>
          <p:cNvPr name="TextBox 25" id="25"/>
          <p:cNvSpPr txBox="true"/>
          <p:nvPr/>
        </p:nvSpPr>
        <p:spPr>
          <a:xfrm rot="0">
            <a:off x="13372184" y="3875897"/>
            <a:ext cx="4580842" cy="4762970"/>
          </a:xfrm>
          <a:prstGeom prst="rect">
            <a:avLst/>
          </a:prstGeom>
        </p:spPr>
        <p:txBody>
          <a:bodyPr anchor="t" rtlCol="false" tIns="0" lIns="0" bIns="0" rIns="0">
            <a:spAutoFit/>
          </a:bodyPr>
          <a:lstStyle/>
          <a:p>
            <a:pPr algn="ctr">
              <a:lnSpc>
                <a:spcPts val="6350"/>
              </a:lnSpc>
              <a:spcBef>
                <a:spcPct val="0"/>
              </a:spcBef>
            </a:pPr>
            <a:r>
              <a:rPr lang="en-US" b="true" sz="4536">
                <a:solidFill>
                  <a:srgbClr val="F9F8F4"/>
                </a:solidFill>
                <a:latin typeface="Open Sans Bold"/>
                <a:ea typeface="Open Sans Bold"/>
                <a:cs typeface="Open Sans Bold"/>
                <a:sym typeface="Open Sans Bold"/>
              </a:rPr>
              <a:t>B2B section with all the contact of big tunisian sellers and latest offers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F3129"/>
        </a:solidFill>
      </p:bgPr>
    </p:bg>
    <p:spTree>
      <p:nvGrpSpPr>
        <p:cNvPr id="1" name=""/>
        <p:cNvGrpSpPr/>
        <p:nvPr/>
      </p:nvGrpSpPr>
      <p:grpSpPr>
        <a:xfrm>
          <a:off x="0" y="0"/>
          <a:ext cx="0" cy="0"/>
          <a:chOff x="0" y="0"/>
          <a:chExt cx="0" cy="0"/>
        </a:xfrm>
      </p:grpSpPr>
      <p:grpSp>
        <p:nvGrpSpPr>
          <p:cNvPr name="Group 2" id="2"/>
          <p:cNvGrpSpPr/>
          <p:nvPr/>
        </p:nvGrpSpPr>
        <p:grpSpPr>
          <a:xfrm rot="0">
            <a:off x="1633258" y="-674171"/>
            <a:ext cx="14375588" cy="11819883"/>
            <a:chOff x="0" y="0"/>
            <a:chExt cx="19167451" cy="15759844"/>
          </a:xfrm>
        </p:grpSpPr>
        <p:sp>
          <p:nvSpPr>
            <p:cNvPr name="AutoShape 3" id="3"/>
            <p:cNvSpPr/>
            <p:nvPr/>
          </p:nvSpPr>
          <p:spPr>
            <a:xfrm flipV="true">
              <a:off x="12700" y="0"/>
              <a:ext cx="0" cy="15759844"/>
            </a:xfrm>
            <a:prstGeom prst="line">
              <a:avLst/>
            </a:prstGeom>
            <a:ln cap="flat" w="25400">
              <a:solidFill>
                <a:srgbClr val="079E5A">
                  <a:alpha val="11765"/>
                </a:srgbClr>
              </a:solidFill>
              <a:prstDash val="solid"/>
              <a:headEnd type="none" len="sm" w="sm"/>
              <a:tailEnd type="none" len="sm" w="sm"/>
            </a:ln>
          </p:spPr>
        </p:sp>
        <p:sp>
          <p:nvSpPr>
            <p:cNvPr name="AutoShape 4" id="4"/>
            <p:cNvSpPr/>
            <p:nvPr/>
          </p:nvSpPr>
          <p:spPr>
            <a:xfrm flipV="true">
              <a:off x="1752886" y="0"/>
              <a:ext cx="0" cy="15759844"/>
            </a:xfrm>
            <a:prstGeom prst="line">
              <a:avLst/>
            </a:prstGeom>
            <a:ln cap="flat" w="25400">
              <a:solidFill>
                <a:srgbClr val="079E5A">
                  <a:alpha val="11765"/>
                </a:srgbClr>
              </a:solidFill>
              <a:prstDash val="solid"/>
              <a:headEnd type="none" len="sm" w="sm"/>
              <a:tailEnd type="none" len="sm" w="sm"/>
            </a:ln>
          </p:spPr>
        </p:sp>
        <p:sp>
          <p:nvSpPr>
            <p:cNvPr name="AutoShape 5" id="5"/>
            <p:cNvSpPr/>
            <p:nvPr/>
          </p:nvSpPr>
          <p:spPr>
            <a:xfrm flipV="true">
              <a:off x="3493073" y="0"/>
              <a:ext cx="0" cy="15759844"/>
            </a:xfrm>
            <a:prstGeom prst="line">
              <a:avLst/>
            </a:prstGeom>
            <a:ln cap="flat" w="25400">
              <a:solidFill>
                <a:srgbClr val="079E5A">
                  <a:alpha val="11765"/>
                </a:srgbClr>
              </a:solidFill>
              <a:prstDash val="solid"/>
              <a:headEnd type="none" len="sm" w="sm"/>
              <a:tailEnd type="none" len="sm" w="sm"/>
            </a:ln>
          </p:spPr>
        </p:sp>
        <p:sp>
          <p:nvSpPr>
            <p:cNvPr name="AutoShape 6" id="6"/>
            <p:cNvSpPr/>
            <p:nvPr/>
          </p:nvSpPr>
          <p:spPr>
            <a:xfrm flipV="true">
              <a:off x="5233259" y="0"/>
              <a:ext cx="0" cy="15759844"/>
            </a:xfrm>
            <a:prstGeom prst="line">
              <a:avLst/>
            </a:prstGeom>
            <a:ln cap="flat" w="25400">
              <a:solidFill>
                <a:srgbClr val="079E5A">
                  <a:alpha val="11765"/>
                </a:srgbClr>
              </a:solidFill>
              <a:prstDash val="solid"/>
              <a:headEnd type="none" len="sm" w="sm"/>
              <a:tailEnd type="none" len="sm" w="sm"/>
            </a:ln>
          </p:spPr>
        </p:sp>
        <p:sp>
          <p:nvSpPr>
            <p:cNvPr name="AutoShape 7" id="7"/>
            <p:cNvSpPr/>
            <p:nvPr/>
          </p:nvSpPr>
          <p:spPr>
            <a:xfrm flipV="true">
              <a:off x="6973446" y="0"/>
              <a:ext cx="0" cy="15759844"/>
            </a:xfrm>
            <a:prstGeom prst="line">
              <a:avLst/>
            </a:prstGeom>
            <a:ln cap="flat" w="25400">
              <a:solidFill>
                <a:srgbClr val="079E5A">
                  <a:alpha val="11765"/>
                </a:srgbClr>
              </a:solidFill>
              <a:prstDash val="solid"/>
              <a:headEnd type="none" len="sm" w="sm"/>
              <a:tailEnd type="none" len="sm" w="sm"/>
            </a:ln>
          </p:spPr>
        </p:sp>
        <p:sp>
          <p:nvSpPr>
            <p:cNvPr name="AutoShape 8" id="8"/>
            <p:cNvSpPr/>
            <p:nvPr/>
          </p:nvSpPr>
          <p:spPr>
            <a:xfrm flipV="true">
              <a:off x="8713632" y="0"/>
              <a:ext cx="0" cy="15759844"/>
            </a:xfrm>
            <a:prstGeom prst="line">
              <a:avLst/>
            </a:prstGeom>
            <a:ln cap="flat" w="25400">
              <a:solidFill>
                <a:srgbClr val="079E5A">
                  <a:alpha val="11765"/>
                </a:srgbClr>
              </a:solidFill>
              <a:prstDash val="solid"/>
              <a:headEnd type="none" len="sm" w="sm"/>
              <a:tailEnd type="none" len="sm" w="sm"/>
            </a:ln>
          </p:spPr>
        </p:sp>
        <p:sp>
          <p:nvSpPr>
            <p:cNvPr name="AutoShape 9" id="9"/>
            <p:cNvSpPr/>
            <p:nvPr/>
          </p:nvSpPr>
          <p:spPr>
            <a:xfrm flipV="true">
              <a:off x="10453819" y="0"/>
              <a:ext cx="0" cy="15759844"/>
            </a:xfrm>
            <a:prstGeom prst="line">
              <a:avLst/>
            </a:prstGeom>
            <a:ln cap="flat" w="25400">
              <a:solidFill>
                <a:srgbClr val="079E5A">
                  <a:alpha val="11765"/>
                </a:srgbClr>
              </a:solidFill>
              <a:prstDash val="solid"/>
              <a:headEnd type="none" len="sm" w="sm"/>
              <a:tailEnd type="none" len="sm" w="sm"/>
            </a:ln>
          </p:spPr>
        </p:sp>
        <p:sp>
          <p:nvSpPr>
            <p:cNvPr name="AutoShape 10" id="10"/>
            <p:cNvSpPr/>
            <p:nvPr/>
          </p:nvSpPr>
          <p:spPr>
            <a:xfrm flipV="true">
              <a:off x="12194005" y="0"/>
              <a:ext cx="0" cy="15759844"/>
            </a:xfrm>
            <a:prstGeom prst="line">
              <a:avLst/>
            </a:prstGeom>
            <a:ln cap="flat" w="25400">
              <a:solidFill>
                <a:srgbClr val="079E5A">
                  <a:alpha val="11765"/>
                </a:srgbClr>
              </a:solidFill>
              <a:prstDash val="solid"/>
              <a:headEnd type="none" len="sm" w="sm"/>
              <a:tailEnd type="none" len="sm" w="sm"/>
            </a:ln>
          </p:spPr>
        </p:sp>
        <p:sp>
          <p:nvSpPr>
            <p:cNvPr name="AutoShape 11" id="11"/>
            <p:cNvSpPr/>
            <p:nvPr/>
          </p:nvSpPr>
          <p:spPr>
            <a:xfrm flipV="true">
              <a:off x="13934192" y="0"/>
              <a:ext cx="0" cy="15759844"/>
            </a:xfrm>
            <a:prstGeom prst="line">
              <a:avLst/>
            </a:prstGeom>
            <a:ln cap="flat" w="25400">
              <a:solidFill>
                <a:srgbClr val="079E5A">
                  <a:alpha val="11765"/>
                </a:srgbClr>
              </a:solidFill>
              <a:prstDash val="solid"/>
              <a:headEnd type="none" len="sm" w="sm"/>
              <a:tailEnd type="none" len="sm" w="sm"/>
            </a:ln>
          </p:spPr>
        </p:sp>
        <p:sp>
          <p:nvSpPr>
            <p:cNvPr name="AutoShape 12" id="12"/>
            <p:cNvSpPr/>
            <p:nvPr/>
          </p:nvSpPr>
          <p:spPr>
            <a:xfrm flipV="true">
              <a:off x="15674378" y="0"/>
              <a:ext cx="0" cy="15759844"/>
            </a:xfrm>
            <a:prstGeom prst="line">
              <a:avLst/>
            </a:prstGeom>
            <a:ln cap="flat" w="25400">
              <a:solidFill>
                <a:srgbClr val="079E5A">
                  <a:alpha val="11765"/>
                </a:srgbClr>
              </a:solidFill>
              <a:prstDash val="solid"/>
              <a:headEnd type="none" len="sm" w="sm"/>
              <a:tailEnd type="none" len="sm" w="sm"/>
            </a:ln>
          </p:spPr>
        </p:sp>
        <p:sp>
          <p:nvSpPr>
            <p:cNvPr name="AutoShape 13" id="13"/>
            <p:cNvSpPr/>
            <p:nvPr/>
          </p:nvSpPr>
          <p:spPr>
            <a:xfrm flipV="true">
              <a:off x="17414564" y="0"/>
              <a:ext cx="0" cy="15759844"/>
            </a:xfrm>
            <a:prstGeom prst="line">
              <a:avLst/>
            </a:prstGeom>
            <a:ln cap="flat" w="25400">
              <a:solidFill>
                <a:srgbClr val="079E5A">
                  <a:alpha val="11765"/>
                </a:srgbClr>
              </a:solidFill>
              <a:prstDash val="solid"/>
              <a:headEnd type="none" len="sm" w="sm"/>
              <a:tailEnd type="none" len="sm" w="sm"/>
            </a:ln>
          </p:spPr>
        </p:sp>
        <p:sp>
          <p:nvSpPr>
            <p:cNvPr name="AutoShape 14" id="14"/>
            <p:cNvSpPr/>
            <p:nvPr/>
          </p:nvSpPr>
          <p:spPr>
            <a:xfrm flipV="true">
              <a:off x="19154751" y="0"/>
              <a:ext cx="0" cy="15759844"/>
            </a:xfrm>
            <a:prstGeom prst="line">
              <a:avLst/>
            </a:prstGeom>
            <a:ln cap="flat" w="25400">
              <a:solidFill>
                <a:srgbClr val="079E5A">
                  <a:alpha val="11765"/>
                </a:srgbClr>
              </a:solidFill>
              <a:prstDash val="solid"/>
              <a:headEnd type="none" len="sm" w="sm"/>
              <a:tailEnd type="none" len="sm" w="sm"/>
            </a:ln>
          </p:spPr>
        </p:sp>
      </p:grpSp>
      <p:grpSp>
        <p:nvGrpSpPr>
          <p:cNvPr name="Group 15" id="15"/>
          <p:cNvGrpSpPr/>
          <p:nvPr/>
        </p:nvGrpSpPr>
        <p:grpSpPr>
          <a:xfrm rot="0">
            <a:off x="7345543" y="3169477"/>
            <a:ext cx="18945897" cy="1894589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0342028" y="-11457159"/>
            <a:ext cx="18945897" cy="1894589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10799999">
            <a:off x="10426783" y="7050900"/>
            <a:ext cx="4128150" cy="686305"/>
          </a:xfrm>
          <a:custGeom>
            <a:avLst/>
            <a:gdLst/>
            <a:ahLst/>
            <a:cxnLst/>
            <a:rect r="r" b="b" t="t" l="l"/>
            <a:pathLst>
              <a:path h="686305" w="4128150">
                <a:moveTo>
                  <a:pt x="0" y="0"/>
                </a:moveTo>
                <a:lnTo>
                  <a:pt x="4128150" y="0"/>
                </a:lnTo>
                <a:lnTo>
                  <a:pt x="4128150" y="686305"/>
                </a:lnTo>
                <a:lnTo>
                  <a:pt x="0" y="6863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0">
            <a:off x="305663" y="1574515"/>
            <a:ext cx="13013181" cy="5492032"/>
          </a:xfrm>
          <a:custGeom>
            <a:avLst/>
            <a:gdLst/>
            <a:ahLst/>
            <a:cxnLst/>
            <a:rect r="r" b="b" t="t" l="l"/>
            <a:pathLst>
              <a:path h="5492032" w="13013181">
                <a:moveTo>
                  <a:pt x="0" y="0"/>
                </a:moveTo>
                <a:lnTo>
                  <a:pt x="13013181" y="0"/>
                </a:lnTo>
                <a:lnTo>
                  <a:pt x="13013181" y="5492032"/>
                </a:lnTo>
                <a:lnTo>
                  <a:pt x="0" y="5492032"/>
                </a:lnTo>
                <a:lnTo>
                  <a:pt x="0" y="0"/>
                </a:lnTo>
                <a:close/>
              </a:path>
            </a:pathLst>
          </a:custGeom>
          <a:blipFill>
            <a:blip r:embed="rId4"/>
            <a:stretch>
              <a:fillRect l="0" t="0" r="0" b="0"/>
            </a:stretch>
          </a:blipFill>
        </p:spPr>
      </p:sp>
      <p:sp>
        <p:nvSpPr>
          <p:cNvPr name="TextBox 23" id="23"/>
          <p:cNvSpPr txBox="true"/>
          <p:nvPr/>
        </p:nvSpPr>
        <p:spPr>
          <a:xfrm rot="0">
            <a:off x="335210" y="119713"/>
            <a:ext cx="9200920" cy="1006856"/>
          </a:xfrm>
          <a:prstGeom prst="rect">
            <a:avLst/>
          </a:prstGeom>
        </p:spPr>
        <p:txBody>
          <a:bodyPr anchor="t" rtlCol="false" tIns="0" lIns="0" bIns="0" rIns="0">
            <a:spAutoFit/>
          </a:bodyPr>
          <a:lstStyle/>
          <a:p>
            <a:pPr algn="ctr">
              <a:lnSpc>
                <a:spcPts val="8327"/>
              </a:lnSpc>
              <a:spcBef>
                <a:spcPct val="0"/>
              </a:spcBef>
            </a:pPr>
            <a:r>
              <a:rPr lang="en-US" sz="5947">
                <a:solidFill>
                  <a:srgbClr val="FFFFFF"/>
                </a:solidFill>
                <a:latin typeface="Open Sans"/>
                <a:ea typeface="Open Sans"/>
                <a:cs typeface="Open Sans"/>
                <a:sym typeface="Open Sans"/>
              </a:rPr>
              <a:t>neostack products section</a:t>
            </a:r>
          </a:p>
        </p:txBody>
      </p:sp>
      <p:sp>
        <p:nvSpPr>
          <p:cNvPr name="TextBox 24" id="24"/>
          <p:cNvSpPr txBox="true"/>
          <p:nvPr/>
        </p:nvSpPr>
        <p:spPr>
          <a:xfrm rot="0">
            <a:off x="305663" y="7822113"/>
            <a:ext cx="17445701" cy="2050489"/>
          </a:xfrm>
          <a:prstGeom prst="rect">
            <a:avLst/>
          </a:prstGeom>
        </p:spPr>
        <p:txBody>
          <a:bodyPr anchor="t" rtlCol="false" tIns="0" lIns="0" bIns="0" rIns="0">
            <a:spAutoFit/>
          </a:bodyPr>
          <a:lstStyle/>
          <a:p>
            <a:pPr algn="ctr">
              <a:lnSpc>
                <a:spcPts val="8327"/>
              </a:lnSpc>
              <a:spcBef>
                <a:spcPct val="0"/>
              </a:spcBef>
            </a:pPr>
            <a:r>
              <a:rPr lang="en-US" sz="5947">
                <a:solidFill>
                  <a:srgbClr val="FFFFFF"/>
                </a:solidFill>
                <a:latin typeface="Open Sans"/>
                <a:ea typeface="Open Sans"/>
                <a:cs typeface="Open Sans"/>
                <a:sym typeface="Open Sans"/>
              </a:rPr>
              <a:t>here you can add or delete any product with a fast tatus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F3129"/>
        </a:solidFill>
      </p:bgPr>
    </p:bg>
    <p:spTree>
      <p:nvGrpSpPr>
        <p:cNvPr id="1" name=""/>
        <p:cNvGrpSpPr/>
        <p:nvPr/>
      </p:nvGrpSpPr>
      <p:grpSpPr>
        <a:xfrm>
          <a:off x="0" y="0"/>
          <a:ext cx="0" cy="0"/>
          <a:chOff x="0" y="0"/>
          <a:chExt cx="0" cy="0"/>
        </a:xfrm>
      </p:grpSpPr>
      <p:grpSp>
        <p:nvGrpSpPr>
          <p:cNvPr name="Group 2" id="2"/>
          <p:cNvGrpSpPr/>
          <p:nvPr/>
        </p:nvGrpSpPr>
        <p:grpSpPr>
          <a:xfrm rot="0">
            <a:off x="1633258" y="-674171"/>
            <a:ext cx="14375588" cy="11819883"/>
            <a:chOff x="0" y="0"/>
            <a:chExt cx="19167451" cy="15759844"/>
          </a:xfrm>
        </p:grpSpPr>
        <p:sp>
          <p:nvSpPr>
            <p:cNvPr name="AutoShape 3" id="3"/>
            <p:cNvSpPr/>
            <p:nvPr/>
          </p:nvSpPr>
          <p:spPr>
            <a:xfrm flipV="true">
              <a:off x="12700" y="0"/>
              <a:ext cx="0" cy="15759844"/>
            </a:xfrm>
            <a:prstGeom prst="line">
              <a:avLst/>
            </a:prstGeom>
            <a:ln cap="flat" w="25400">
              <a:solidFill>
                <a:srgbClr val="079E5A">
                  <a:alpha val="11765"/>
                </a:srgbClr>
              </a:solidFill>
              <a:prstDash val="solid"/>
              <a:headEnd type="none" len="sm" w="sm"/>
              <a:tailEnd type="none" len="sm" w="sm"/>
            </a:ln>
          </p:spPr>
        </p:sp>
        <p:sp>
          <p:nvSpPr>
            <p:cNvPr name="AutoShape 4" id="4"/>
            <p:cNvSpPr/>
            <p:nvPr/>
          </p:nvSpPr>
          <p:spPr>
            <a:xfrm flipV="true">
              <a:off x="1752886" y="0"/>
              <a:ext cx="0" cy="15759844"/>
            </a:xfrm>
            <a:prstGeom prst="line">
              <a:avLst/>
            </a:prstGeom>
            <a:ln cap="flat" w="25400">
              <a:solidFill>
                <a:srgbClr val="079E5A">
                  <a:alpha val="11765"/>
                </a:srgbClr>
              </a:solidFill>
              <a:prstDash val="solid"/>
              <a:headEnd type="none" len="sm" w="sm"/>
              <a:tailEnd type="none" len="sm" w="sm"/>
            </a:ln>
          </p:spPr>
        </p:sp>
        <p:sp>
          <p:nvSpPr>
            <p:cNvPr name="AutoShape 5" id="5"/>
            <p:cNvSpPr/>
            <p:nvPr/>
          </p:nvSpPr>
          <p:spPr>
            <a:xfrm flipV="true">
              <a:off x="3493073" y="0"/>
              <a:ext cx="0" cy="15759844"/>
            </a:xfrm>
            <a:prstGeom prst="line">
              <a:avLst/>
            </a:prstGeom>
            <a:ln cap="flat" w="25400">
              <a:solidFill>
                <a:srgbClr val="079E5A">
                  <a:alpha val="11765"/>
                </a:srgbClr>
              </a:solidFill>
              <a:prstDash val="solid"/>
              <a:headEnd type="none" len="sm" w="sm"/>
              <a:tailEnd type="none" len="sm" w="sm"/>
            </a:ln>
          </p:spPr>
        </p:sp>
        <p:sp>
          <p:nvSpPr>
            <p:cNvPr name="AutoShape 6" id="6"/>
            <p:cNvSpPr/>
            <p:nvPr/>
          </p:nvSpPr>
          <p:spPr>
            <a:xfrm flipV="true">
              <a:off x="5233259" y="0"/>
              <a:ext cx="0" cy="15759844"/>
            </a:xfrm>
            <a:prstGeom prst="line">
              <a:avLst/>
            </a:prstGeom>
            <a:ln cap="flat" w="25400">
              <a:solidFill>
                <a:srgbClr val="079E5A">
                  <a:alpha val="11765"/>
                </a:srgbClr>
              </a:solidFill>
              <a:prstDash val="solid"/>
              <a:headEnd type="none" len="sm" w="sm"/>
              <a:tailEnd type="none" len="sm" w="sm"/>
            </a:ln>
          </p:spPr>
        </p:sp>
        <p:sp>
          <p:nvSpPr>
            <p:cNvPr name="AutoShape 7" id="7"/>
            <p:cNvSpPr/>
            <p:nvPr/>
          </p:nvSpPr>
          <p:spPr>
            <a:xfrm flipV="true">
              <a:off x="6973446" y="0"/>
              <a:ext cx="0" cy="15759844"/>
            </a:xfrm>
            <a:prstGeom prst="line">
              <a:avLst/>
            </a:prstGeom>
            <a:ln cap="flat" w="25400">
              <a:solidFill>
                <a:srgbClr val="079E5A">
                  <a:alpha val="11765"/>
                </a:srgbClr>
              </a:solidFill>
              <a:prstDash val="solid"/>
              <a:headEnd type="none" len="sm" w="sm"/>
              <a:tailEnd type="none" len="sm" w="sm"/>
            </a:ln>
          </p:spPr>
        </p:sp>
        <p:sp>
          <p:nvSpPr>
            <p:cNvPr name="AutoShape 8" id="8"/>
            <p:cNvSpPr/>
            <p:nvPr/>
          </p:nvSpPr>
          <p:spPr>
            <a:xfrm flipV="true">
              <a:off x="8713632" y="0"/>
              <a:ext cx="0" cy="15759844"/>
            </a:xfrm>
            <a:prstGeom prst="line">
              <a:avLst/>
            </a:prstGeom>
            <a:ln cap="flat" w="25400">
              <a:solidFill>
                <a:srgbClr val="079E5A">
                  <a:alpha val="11765"/>
                </a:srgbClr>
              </a:solidFill>
              <a:prstDash val="solid"/>
              <a:headEnd type="none" len="sm" w="sm"/>
              <a:tailEnd type="none" len="sm" w="sm"/>
            </a:ln>
          </p:spPr>
        </p:sp>
        <p:sp>
          <p:nvSpPr>
            <p:cNvPr name="AutoShape 9" id="9"/>
            <p:cNvSpPr/>
            <p:nvPr/>
          </p:nvSpPr>
          <p:spPr>
            <a:xfrm flipV="true">
              <a:off x="10453819" y="0"/>
              <a:ext cx="0" cy="15759844"/>
            </a:xfrm>
            <a:prstGeom prst="line">
              <a:avLst/>
            </a:prstGeom>
            <a:ln cap="flat" w="25400">
              <a:solidFill>
                <a:srgbClr val="079E5A">
                  <a:alpha val="11765"/>
                </a:srgbClr>
              </a:solidFill>
              <a:prstDash val="solid"/>
              <a:headEnd type="none" len="sm" w="sm"/>
              <a:tailEnd type="none" len="sm" w="sm"/>
            </a:ln>
          </p:spPr>
        </p:sp>
        <p:sp>
          <p:nvSpPr>
            <p:cNvPr name="AutoShape 10" id="10"/>
            <p:cNvSpPr/>
            <p:nvPr/>
          </p:nvSpPr>
          <p:spPr>
            <a:xfrm flipV="true">
              <a:off x="12194005" y="0"/>
              <a:ext cx="0" cy="15759844"/>
            </a:xfrm>
            <a:prstGeom prst="line">
              <a:avLst/>
            </a:prstGeom>
            <a:ln cap="flat" w="25400">
              <a:solidFill>
                <a:srgbClr val="079E5A">
                  <a:alpha val="11765"/>
                </a:srgbClr>
              </a:solidFill>
              <a:prstDash val="solid"/>
              <a:headEnd type="none" len="sm" w="sm"/>
              <a:tailEnd type="none" len="sm" w="sm"/>
            </a:ln>
          </p:spPr>
        </p:sp>
        <p:sp>
          <p:nvSpPr>
            <p:cNvPr name="AutoShape 11" id="11"/>
            <p:cNvSpPr/>
            <p:nvPr/>
          </p:nvSpPr>
          <p:spPr>
            <a:xfrm flipV="true">
              <a:off x="13934192" y="0"/>
              <a:ext cx="0" cy="15759844"/>
            </a:xfrm>
            <a:prstGeom prst="line">
              <a:avLst/>
            </a:prstGeom>
            <a:ln cap="flat" w="25400">
              <a:solidFill>
                <a:srgbClr val="079E5A">
                  <a:alpha val="11765"/>
                </a:srgbClr>
              </a:solidFill>
              <a:prstDash val="solid"/>
              <a:headEnd type="none" len="sm" w="sm"/>
              <a:tailEnd type="none" len="sm" w="sm"/>
            </a:ln>
          </p:spPr>
        </p:sp>
        <p:sp>
          <p:nvSpPr>
            <p:cNvPr name="AutoShape 12" id="12"/>
            <p:cNvSpPr/>
            <p:nvPr/>
          </p:nvSpPr>
          <p:spPr>
            <a:xfrm flipV="true">
              <a:off x="15674378" y="0"/>
              <a:ext cx="0" cy="15759844"/>
            </a:xfrm>
            <a:prstGeom prst="line">
              <a:avLst/>
            </a:prstGeom>
            <a:ln cap="flat" w="25400">
              <a:solidFill>
                <a:srgbClr val="079E5A">
                  <a:alpha val="11765"/>
                </a:srgbClr>
              </a:solidFill>
              <a:prstDash val="solid"/>
              <a:headEnd type="none" len="sm" w="sm"/>
              <a:tailEnd type="none" len="sm" w="sm"/>
            </a:ln>
          </p:spPr>
        </p:sp>
        <p:sp>
          <p:nvSpPr>
            <p:cNvPr name="AutoShape 13" id="13"/>
            <p:cNvSpPr/>
            <p:nvPr/>
          </p:nvSpPr>
          <p:spPr>
            <a:xfrm flipV="true">
              <a:off x="17414564" y="0"/>
              <a:ext cx="0" cy="15759844"/>
            </a:xfrm>
            <a:prstGeom prst="line">
              <a:avLst/>
            </a:prstGeom>
            <a:ln cap="flat" w="25400">
              <a:solidFill>
                <a:srgbClr val="079E5A">
                  <a:alpha val="11765"/>
                </a:srgbClr>
              </a:solidFill>
              <a:prstDash val="solid"/>
              <a:headEnd type="none" len="sm" w="sm"/>
              <a:tailEnd type="none" len="sm" w="sm"/>
            </a:ln>
          </p:spPr>
        </p:sp>
        <p:sp>
          <p:nvSpPr>
            <p:cNvPr name="AutoShape 14" id="14"/>
            <p:cNvSpPr/>
            <p:nvPr/>
          </p:nvSpPr>
          <p:spPr>
            <a:xfrm flipV="true">
              <a:off x="19154751" y="0"/>
              <a:ext cx="0" cy="15759844"/>
            </a:xfrm>
            <a:prstGeom prst="line">
              <a:avLst/>
            </a:prstGeom>
            <a:ln cap="flat" w="25400">
              <a:solidFill>
                <a:srgbClr val="079E5A">
                  <a:alpha val="11765"/>
                </a:srgbClr>
              </a:solidFill>
              <a:prstDash val="solid"/>
              <a:headEnd type="none" len="sm" w="sm"/>
              <a:tailEnd type="none" len="sm" w="sm"/>
            </a:ln>
          </p:spPr>
        </p:sp>
      </p:grpSp>
      <p:grpSp>
        <p:nvGrpSpPr>
          <p:cNvPr name="Group 15" id="15"/>
          <p:cNvGrpSpPr/>
          <p:nvPr/>
        </p:nvGrpSpPr>
        <p:grpSpPr>
          <a:xfrm rot="0">
            <a:off x="7345543" y="3169477"/>
            <a:ext cx="18945897" cy="1894589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0342028" y="-11457159"/>
            <a:ext cx="18945897" cy="1894589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1063945" y="1408084"/>
            <a:ext cx="14712333" cy="7765103"/>
          </a:xfrm>
          <a:custGeom>
            <a:avLst/>
            <a:gdLst/>
            <a:ahLst/>
            <a:cxnLst/>
            <a:rect r="r" b="b" t="t" l="l"/>
            <a:pathLst>
              <a:path h="7765103" w="14712333">
                <a:moveTo>
                  <a:pt x="0" y="0"/>
                </a:moveTo>
                <a:lnTo>
                  <a:pt x="14712333" y="0"/>
                </a:lnTo>
                <a:lnTo>
                  <a:pt x="14712333" y="7765103"/>
                </a:lnTo>
                <a:lnTo>
                  <a:pt x="0" y="7765103"/>
                </a:lnTo>
                <a:lnTo>
                  <a:pt x="0" y="0"/>
                </a:lnTo>
                <a:close/>
              </a:path>
            </a:pathLst>
          </a:custGeom>
          <a:blipFill>
            <a:blip r:embed="rId2"/>
            <a:stretch>
              <a:fillRect l="0" t="0" r="0" b="0"/>
            </a:stretch>
          </a:blipFill>
        </p:spPr>
      </p:sp>
      <p:sp>
        <p:nvSpPr>
          <p:cNvPr name="TextBox 22" id="22"/>
          <p:cNvSpPr txBox="true"/>
          <p:nvPr/>
        </p:nvSpPr>
        <p:spPr>
          <a:xfrm rot="0">
            <a:off x="0" y="-176624"/>
            <a:ext cx="12888887" cy="1584708"/>
          </a:xfrm>
          <a:prstGeom prst="rect">
            <a:avLst/>
          </a:prstGeom>
        </p:spPr>
        <p:txBody>
          <a:bodyPr anchor="t" rtlCol="false" tIns="0" lIns="0" bIns="0" rIns="0">
            <a:spAutoFit/>
          </a:bodyPr>
          <a:lstStyle/>
          <a:p>
            <a:pPr algn="ctr">
              <a:lnSpc>
                <a:spcPts val="13096"/>
              </a:lnSpc>
              <a:spcBef>
                <a:spcPct val="0"/>
              </a:spcBef>
            </a:pPr>
            <a:r>
              <a:rPr lang="en-US" sz="9354">
                <a:solidFill>
                  <a:srgbClr val="FFFFFF"/>
                </a:solidFill>
                <a:latin typeface="Open Sans"/>
                <a:ea typeface="Open Sans"/>
                <a:cs typeface="Open Sans"/>
                <a:sym typeface="Open Sans"/>
              </a:rPr>
              <a:t>AI chat with chart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F3129"/>
        </a:solidFill>
      </p:bgPr>
    </p:bg>
    <p:spTree>
      <p:nvGrpSpPr>
        <p:cNvPr id="1" name=""/>
        <p:cNvGrpSpPr/>
        <p:nvPr/>
      </p:nvGrpSpPr>
      <p:grpSpPr>
        <a:xfrm>
          <a:off x="0" y="0"/>
          <a:ext cx="0" cy="0"/>
          <a:chOff x="0" y="0"/>
          <a:chExt cx="0" cy="0"/>
        </a:xfrm>
      </p:grpSpPr>
      <p:grpSp>
        <p:nvGrpSpPr>
          <p:cNvPr name="Group 2" id="2"/>
          <p:cNvGrpSpPr/>
          <p:nvPr/>
        </p:nvGrpSpPr>
        <p:grpSpPr>
          <a:xfrm rot="0">
            <a:off x="1633258" y="-674171"/>
            <a:ext cx="14375588" cy="11819883"/>
            <a:chOff x="0" y="0"/>
            <a:chExt cx="19167451" cy="15759844"/>
          </a:xfrm>
        </p:grpSpPr>
        <p:sp>
          <p:nvSpPr>
            <p:cNvPr name="AutoShape 3" id="3"/>
            <p:cNvSpPr/>
            <p:nvPr/>
          </p:nvSpPr>
          <p:spPr>
            <a:xfrm flipV="true">
              <a:off x="12700" y="0"/>
              <a:ext cx="0" cy="15759844"/>
            </a:xfrm>
            <a:prstGeom prst="line">
              <a:avLst/>
            </a:prstGeom>
            <a:ln cap="flat" w="25400">
              <a:solidFill>
                <a:srgbClr val="079E5A">
                  <a:alpha val="11765"/>
                </a:srgbClr>
              </a:solidFill>
              <a:prstDash val="solid"/>
              <a:headEnd type="none" len="sm" w="sm"/>
              <a:tailEnd type="none" len="sm" w="sm"/>
            </a:ln>
          </p:spPr>
        </p:sp>
        <p:sp>
          <p:nvSpPr>
            <p:cNvPr name="AutoShape 4" id="4"/>
            <p:cNvSpPr/>
            <p:nvPr/>
          </p:nvSpPr>
          <p:spPr>
            <a:xfrm flipV="true">
              <a:off x="1752886" y="0"/>
              <a:ext cx="0" cy="15759844"/>
            </a:xfrm>
            <a:prstGeom prst="line">
              <a:avLst/>
            </a:prstGeom>
            <a:ln cap="flat" w="25400">
              <a:solidFill>
                <a:srgbClr val="079E5A">
                  <a:alpha val="11765"/>
                </a:srgbClr>
              </a:solidFill>
              <a:prstDash val="solid"/>
              <a:headEnd type="none" len="sm" w="sm"/>
              <a:tailEnd type="none" len="sm" w="sm"/>
            </a:ln>
          </p:spPr>
        </p:sp>
        <p:sp>
          <p:nvSpPr>
            <p:cNvPr name="AutoShape 5" id="5"/>
            <p:cNvSpPr/>
            <p:nvPr/>
          </p:nvSpPr>
          <p:spPr>
            <a:xfrm flipV="true">
              <a:off x="3493073" y="0"/>
              <a:ext cx="0" cy="15759844"/>
            </a:xfrm>
            <a:prstGeom prst="line">
              <a:avLst/>
            </a:prstGeom>
            <a:ln cap="flat" w="25400">
              <a:solidFill>
                <a:srgbClr val="079E5A">
                  <a:alpha val="11765"/>
                </a:srgbClr>
              </a:solidFill>
              <a:prstDash val="solid"/>
              <a:headEnd type="none" len="sm" w="sm"/>
              <a:tailEnd type="none" len="sm" w="sm"/>
            </a:ln>
          </p:spPr>
        </p:sp>
        <p:sp>
          <p:nvSpPr>
            <p:cNvPr name="AutoShape 6" id="6"/>
            <p:cNvSpPr/>
            <p:nvPr/>
          </p:nvSpPr>
          <p:spPr>
            <a:xfrm flipV="true">
              <a:off x="5233259" y="0"/>
              <a:ext cx="0" cy="15759844"/>
            </a:xfrm>
            <a:prstGeom prst="line">
              <a:avLst/>
            </a:prstGeom>
            <a:ln cap="flat" w="25400">
              <a:solidFill>
                <a:srgbClr val="079E5A">
                  <a:alpha val="11765"/>
                </a:srgbClr>
              </a:solidFill>
              <a:prstDash val="solid"/>
              <a:headEnd type="none" len="sm" w="sm"/>
              <a:tailEnd type="none" len="sm" w="sm"/>
            </a:ln>
          </p:spPr>
        </p:sp>
        <p:sp>
          <p:nvSpPr>
            <p:cNvPr name="AutoShape 7" id="7"/>
            <p:cNvSpPr/>
            <p:nvPr/>
          </p:nvSpPr>
          <p:spPr>
            <a:xfrm flipV="true">
              <a:off x="6973446" y="0"/>
              <a:ext cx="0" cy="15759844"/>
            </a:xfrm>
            <a:prstGeom prst="line">
              <a:avLst/>
            </a:prstGeom>
            <a:ln cap="flat" w="25400">
              <a:solidFill>
                <a:srgbClr val="079E5A">
                  <a:alpha val="11765"/>
                </a:srgbClr>
              </a:solidFill>
              <a:prstDash val="solid"/>
              <a:headEnd type="none" len="sm" w="sm"/>
              <a:tailEnd type="none" len="sm" w="sm"/>
            </a:ln>
          </p:spPr>
        </p:sp>
        <p:sp>
          <p:nvSpPr>
            <p:cNvPr name="AutoShape 8" id="8"/>
            <p:cNvSpPr/>
            <p:nvPr/>
          </p:nvSpPr>
          <p:spPr>
            <a:xfrm flipV="true">
              <a:off x="8713632" y="0"/>
              <a:ext cx="0" cy="15759844"/>
            </a:xfrm>
            <a:prstGeom prst="line">
              <a:avLst/>
            </a:prstGeom>
            <a:ln cap="flat" w="25400">
              <a:solidFill>
                <a:srgbClr val="079E5A">
                  <a:alpha val="11765"/>
                </a:srgbClr>
              </a:solidFill>
              <a:prstDash val="solid"/>
              <a:headEnd type="none" len="sm" w="sm"/>
              <a:tailEnd type="none" len="sm" w="sm"/>
            </a:ln>
          </p:spPr>
        </p:sp>
        <p:sp>
          <p:nvSpPr>
            <p:cNvPr name="AutoShape 9" id="9"/>
            <p:cNvSpPr/>
            <p:nvPr/>
          </p:nvSpPr>
          <p:spPr>
            <a:xfrm flipV="true">
              <a:off x="10453819" y="0"/>
              <a:ext cx="0" cy="15759844"/>
            </a:xfrm>
            <a:prstGeom prst="line">
              <a:avLst/>
            </a:prstGeom>
            <a:ln cap="flat" w="25400">
              <a:solidFill>
                <a:srgbClr val="079E5A">
                  <a:alpha val="11765"/>
                </a:srgbClr>
              </a:solidFill>
              <a:prstDash val="solid"/>
              <a:headEnd type="none" len="sm" w="sm"/>
              <a:tailEnd type="none" len="sm" w="sm"/>
            </a:ln>
          </p:spPr>
        </p:sp>
        <p:sp>
          <p:nvSpPr>
            <p:cNvPr name="AutoShape 10" id="10"/>
            <p:cNvSpPr/>
            <p:nvPr/>
          </p:nvSpPr>
          <p:spPr>
            <a:xfrm flipV="true">
              <a:off x="12194005" y="0"/>
              <a:ext cx="0" cy="15759844"/>
            </a:xfrm>
            <a:prstGeom prst="line">
              <a:avLst/>
            </a:prstGeom>
            <a:ln cap="flat" w="25400">
              <a:solidFill>
                <a:srgbClr val="079E5A">
                  <a:alpha val="11765"/>
                </a:srgbClr>
              </a:solidFill>
              <a:prstDash val="solid"/>
              <a:headEnd type="none" len="sm" w="sm"/>
              <a:tailEnd type="none" len="sm" w="sm"/>
            </a:ln>
          </p:spPr>
        </p:sp>
        <p:sp>
          <p:nvSpPr>
            <p:cNvPr name="AutoShape 11" id="11"/>
            <p:cNvSpPr/>
            <p:nvPr/>
          </p:nvSpPr>
          <p:spPr>
            <a:xfrm flipV="true">
              <a:off x="13934192" y="0"/>
              <a:ext cx="0" cy="15759844"/>
            </a:xfrm>
            <a:prstGeom prst="line">
              <a:avLst/>
            </a:prstGeom>
            <a:ln cap="flat" w="25400">
              <a:solidFill>
                <a:srgbClr val="079E5A">
                  <a:alpha val="11765"/>
                </a:srgbClr>
              </a:solidFill>
              <a:prstDash val="solid"/>
              <a:headEnd type="none" len="sm" w="sm"/>
              <a:tailEnd type="none" len="sm" w="sm"/>
            </a:ln>
          </p:spPr>
        </p:sp>
        <p:sp>
          <p:nvSpPr>
            <p:cNvPr name="AutoShape 12" id="12"/>
            <p:cNvSpPr/>
            <p:nvPr/>
          </p:nvSpPr>
          <p:spPr>
            <a:xfrm flipV="true">
              <a:off x="15674378" y="0"/>
              <a:ext cx="0" cy="15759844"/>
            </a:xfrm>
            <a:prstGeom prst="line">
              <a:avLst/>
            </a:prstGeom>
            <a:ln cap="flat" w="25400">
              <a:solidFill>
                <a:srgbClr val="079E5A">
                  <a:alpha val="11765"/>
                </a:srgbClr>
              </a:solidFill>
              <a:prstDash val="solid"/>
              <a:headEnd type="none" len="sm" w="sm"/>
              <a:tailEnd type="none" len="sm" w="sm"/>
            </a:ln>
          </p:spPr>
        </p:sp>
        <p:sp>
          <p:nvSpPr>
            <p:cNvPr name="AutoShape 13" id="13"/>
            <p:cNvSpPr/>
            <p:nvPr/>
          </p:nvSpPr>
          <p:spPr>
            <a:xfrm flipV="true">
              <a:off x="17414564" y="0"/>
              <a:ext cx="0" cy="15759844"/>
            </a:xfrm>
            <a:prstGeom prst="line">
              <a:avLst/>
            </a:prstGeom>
            <a:ln cap="flat" w="25400">
              <a:solidFill>
                <a:srgbClr val="079E5A">
                  <a:alpha val="11765"/>
                </a:srgbClr>
              </a:solidFill>
              <a:prstDash val="solid"/>
              <a:headEnd type="none" len="sm" w="sm"/>
              <a:tailEnd type="none" len="sm" w="sm"/>
            </a:ln>
          </p:spPr>
        </p:sp>
        <p:sp>
          <p:nvSpPr>
            <p:cNvPr name="AutoShape 14" id="14"/>
            <p:cNvSpPr/>
            <p:nvPr/>
          </p:nvSpPr>
          <p:spPr>
            <a:xfrm flipV="true">
              <a:off x="19154751" y="0"/>
              <a:ext cx="0" cy="15759844"/>
            </a:xfrm>
            <a:prstGeom prst="line">
              <a:avLst/>
            </a:prstGeom>
            <a:ln cap="flat" w="25400">
              <a:solidFill>
                <a:srgbClr val="079E5A">
                  <a:alpha val="11765"/>
                </a:srgbClr>
              </a:solidFill>
              <a:prstDash val="solid"/>
              <a:headEnd type="none" len="sm" w="sm"/>
              <a:tailEnd type="none" len="sm" w="sm"/>
            </a:ln>
          </p:spPr>
        </p:sp>
      </p:grpSp>
      <p:grpSp>
        <p:nvGrpSpPr>
          <p:cNvPr name="Group 15" id="15"/>
          <p:cNvGrpSpPr/>
          <p:nvPr/>
        </p:nvGrpSpPr>
        <p:grpSpPr>
          <a:xfrm rot="0">
            <a:off x="7345543" y="3169477"/>
            <a:ext cx="18945897" cy="1894589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0342028" y="-11457159"/>
            <a:ext cx="18945897" cy="1894589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1277870" y="1184739"/>
            <a:ext cx="15140833" cy="7941133"/>
          </a:xfrm>
          <a:custGeom>
            <a:avLst/>
            <a:gdLst/>
            <a:ahLst/>
            <a:cxnLst/>
            <a:rect r="r" b="b" t="t" l="l"/>
            <a:pathLst>
              <a:path h="7941133" w="15140833">
                <a:moveTo>
                  <a:pt x="0" y="0"/>
                </a:moveTo>
                <a:lnTo>
                  <a:pt x="15140833" y="0"/>
                </a:lnTo>
                <a:lnTo>
                  <a:pt x="15140833" y="7941133"/>
                </a:lnTo>
                <a:lnTo>
                  <a:pt x="0" y="7941133"/>
                </a:lnTo>
                <a:lnTo>
                  <a:pt x="0" y="0"/>
                </a:lnTo>
                <a:close/>
              </a:path>
            </a:pathLst>
          </a:custGeom>
          <a:blipFill>
            <a:blip r:embed="rId2"/>
            <a:stretch>
              <a:fillRect l="0" t="0" r="0" b="0"/>
            </a:stretch>
          </a:blipFill>
        </p:spPr>
      </p:sp>
      <p:sp>
        <p:nvSpPr>
          <p:cNvPr name="TextBox 22" id="22"/>
          <p:cNvSpPr txBox="true"/>
          <p:nvPr/>
        </p:nvSpPr>
        <p:spPr>
          <a:xfrm rot="0">
            <a:off x="-246891" y="-79573"/>
            <a:ext cx="18319218" cy="1099542"/>
          </a:xfrm>
          <a:prstGeom prst="rect">
            <a:avLst/>
          </a:prstGeom>
        </p:spPr>
        <p:txBody>
          <a:bodyPr anchor="t" rtlCol="false" tIns="0" lIns="0" bIns="0" rIns="0">
            <a:spAutoFit/>
          </a:bodyPr>
          <a:lstStyle/>
          <a:p>
            <a:pPr algn="ctr">
              <a:lnSpc>
                <a:spcPts val="8998"/>
              </a:lnSpc>
              <a:spcBef>
                <a:spcPct val="0"/>
              </a:spcBef>
            </a:pPr>
            <a:r>
              <a:rPr lang="en-US" b="true" sz="6427">
                <a:solidFill>
                  <a:srgbClr val="F9F8F4"/>
                </a:solidFill>
                <a:latin typeface="Open Sans Bold"/>
                <a:ea typeface="Open Sans Bold"/>
                <a:cs typeface="Open Sans Bold"/>
                <a:sym typeface="Open Sans Bold"/>
              </a:rPr>
              <a:t>all of your transactoins within the bussiness</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1F3129"/>
        </a:solidFill>
      </p:bgPr>
    </p:bg>
    <p:spTree>
      <p:nvGrpSpPr>
        <p:cNvPr id="1" name=""/>
        <p:cNvGrpSpPr/>
        <p:nvPr/>
      </p:nvGrpSpPr>
      <p:grpSpPr>
        <a:xfrm>
          <a:off x="0" y="0"/>
          <a:ext cx="0" cy="0"/>
          <a:chOff x="0" y="0"/>
          <a:chExt cx="0" cy="0"/>
        </a:xfrm>
      </p:grpSpPr>
      <p:grpSp>
        <p:nvGrpSpPr>
          <p:cNvPr name="Group 2" id="2"/>
          <p:cNvGrpSpPr/>
          <p:nvPr/>
        </p:nvGrpSpPr>
        <p:grpSpPr>
          <a:xfrm rot="0">
            <a:off x="1956206" y="-1092668"/>
            <a:ext cx="14375588" cy="11819883"/>
            <a:chOff x="0" y="0"/>
            <a:chExt cx="19167451" cy="15759844"/>
          </a:xfrm>
        </p:grpSpPr>
        <p:sp>
          <p:nvSpPr>
            <p:cNvPr name="AutoShape 3" id="3"/>
            <p:cNvSpPr/>
            <p:nvPr/>
          </p:nvSpPr>
          <p:spPr>
            <a:xfrm flipV="true">
              <a:off x="12700" y="0"/>
              <a:ext cx="0" cy="15759844"/>
            </a:xfrm>
            <a:prstGeom prst="line">
              <a:avLst/>
            </a:prstGeom>
            <a:ln cap="flat" w="25400">
              <a:solidFill>
                <a:srgbClr val="079E5A">
                  <a:alpha val="11765"/>
                </a:srgbClr>
              </a:solidFill>
              <a:prstDash val="solid"/>
              <a:headEnd type="none" len="sm" w="sm"/>
              <a:tailEnd type="none" len="sm" w="sm"/>
            </a:ln>
          </p:spPr>
        </p:sp>
        <p:sp>
          <p:nvSpPr>
            <p:cNvPr name="AutoShape 4" id="4"/>
            <p:cNvSpPr/>
            <p:nvPr/>
          </p:nvSpPr>
          <p:spPr>
            <a:xfrm flipV="true">
              <a:off x="1752886" y="0"/>
              <a:ext cx="0" cy="15759844"/>
            </a:xfrm>
            <a:prstGeom prst="line">
              <a:avLst/>
            </a:prstGeom>
            <a:ln cap="flat" w="25400">
              <a:solidFill>
                <a:srgbClr val="079E5A">
                  <a:alpha val="11765"/>
                </a:srgbClr>
              </a:solidFill>
              <a:prstDash val="solid"/>
              <a:headEnd type="none" len="sm" w="sm"/>
              <a:tailEnd type="none" len="sm" w="sm"/>
            </a:ln>
          </p:spPr>
        </p:sp>
        <p:sp>
          <p:nvSpPr>
            <p:cNvPr name="AutoShape 5" id="5"/>
            <p:cNvSpPr/>
            <p:nvPr/>
          </p:nvSpPr>
          <p:spPr>
            <a:xfrm flipV="true">
              <a:off x="3493073" y="0"/>
              <a:ext cx="0" cy="15759844"/>
            </a:xfrm>
            <a:prstGeom prst="line">
              <a:avLst/>
            </a:prstGeom>
            <a:ln cap="flat" w="25400">
              <a:solidFill>
                <a:srgbClr val="079E5A">
                  <a:alpha val="11765"/>
                </a:srgbClr>
              </a:solidFill>
              <a:prstDash val="solid"/>
              <a:headEnd type="none" len="sm" w="sm"/>
              <a:tailEnd type="none" len="sm" w="sm"/>
            </a:ln>
          </p:spPr>
        </p:sp>
        <p:sp>
          <p:nvSpPr>
            <p:cNvPr name="AutoShape 6" id="6"/>
            <p:cNvSpPr/>
            <p:nvPr/>
          </p:nvSpPr>
          <p:spPr>
            <a:xfrm flipV="true">
              <a:off x="5233259" y="0"/>
              <a:ext cx="0" cy="15759844"/>
            </a:xfrm>
            <a:prstGeom prst="line">
              <a:avLst/>
            </a:prstGeom>
            <a:ln cap="flat" w="25400">
              <a:solidFill>
                <a:srgbClr val="079E5A">
                  <a:alpha val="11765"/>
                </a:srgbClr>
              </a:solidFill>
              <a:prstDash val="solid"/>
              <a:headEnd type="none" len="sm" w="sm"/>
              <a:tailEnd type="none" len="sm" w="sm"/>
            </a:ln>
          </p:spPr>
        </p:sp>
        <p:sp>
          <p:nvSpPr>
            <p:cNvPr name="AutoShape 7" id="7"/>
            <p:cNvSpPr/>
            <p:nvPr/>
          </p:nvSpPr>
          <p:spPr>
            <a:xfrm flipV="true">
              <a:off x="6973446" y="0"/>
              <a:ext cx="0" cy="15759844"/>
            </a:xfrm>
            <a:prstGeom prst="line">
              <a:avLst/>
            </a:prstGeom>
            <a:ln cap="flat" w="25400">
              <a:solidFill>
                <a:srgbClr val="079E5A">
                  <a:alpha val="11765"/>
                </a:srgbClr>
              </a:solidFill>
              <a:prstDash val="solid"/>
              <a:headEnd type="none" len="sm" w="sm"/>
              <a:tailEnd type="none" len="sm" w="sm"/>
            </a:ln>
          </p:spPr>
        </p:sp>
        <p:sp>
          <p:nvSpPr>
            <p:cNvPr name="AutoShape 8" id="8"/>
            <p:cNvSpPr/>
            <p:nvPr/>
          </p:nvSpPr>
          <p:spPr>
            <a:xfrm flipV="true">
              <a:off x="8713632" y="0"/>
              <a:ext cx="0" cy="15759844"/>
            </a:xfrm>
            <a:prstGeom prst="line">
              <a:avLst/>
            </a:prstGeom>
            <a:ln cap="flat" w="25400">
              <a:solidFill>
                <a:srgbClr val="079E5A">
                  <a:alpha val="11765"/>
                </a:srgbClr>
              </a:solidFill>
              <a:prstDash val="solid"/>
              <a:headEnd type="none" len="sm" w="sm"/>
              <a:tailEnd type="none" len="sm" w="sm"/>
            </a:ln>
          </p:spPr>
        </p:sp>
        <p:sp>
          <p:nvSpPr>
            <p:cNvPr name="AutoShape 9" id="9"/>
            <p:cNvSpPr/>
            <p:nvPr/>
          </p:nvSpPr>
          <p:spPr>
            <a:xfrm flipV="true">
              <a:off x="10453819" y="0"/>
              <a:ext cx="0" cy="15759844"/>
            </a:xfrm>
            <a:prstGeom prst="line">
              <a:avLst/>
            </a:prstGeom>
            <a:ln cap="flat" w="25400">
              <a:solidFill>
                <a:srgbClr val="079E5A">
                  <a:alpha val="11765"/>
                </a:srgbClr>
              </a:solidFill>
              <a:prstDash val="solid"/>
              <a:headEnd type="none" len="sm" w="sm"/>
              <a:tailEnd type="none" len="sm" w="sm"/>
            </a:ln>
          </p:spPr>
        </p:sp>
        <p:sp>
          <p:nvSpPr>
            <p:cNvPr name="AutoShape 10" id="10"/>
            <p:cNvSpPr/>
            <p:nvPr/>
          </p:nvSpPr>
          <p:spPr>
            <a:xfrm flipV="true">
              <a:off x="12194005" y="0"/>
              <a:ext cx="0" cy="15759844"/>
            </a:xfrm>
            <a:prstGeom prst="line">
              <a:avLst/>
            </a:prstGeom>
            <a:ln cap="flat" w="25400">
              <a:solidFill>
                <a:srgbClr val="079E5A">
                  <a:alpha val="11765"/>
                </a:srgbClr>
              </a:solidFill>
              <a:prstDash val="solid"/>
              <a:headEnd type="none" len="sm" w="sm"/>
              <a:tailEnd type="none" len="sm" w="sm"/>
            </a:ln>
          </p:spPr>
        </p:sp>
        <p:sp>
          <p:nvSpPr>
            <p:cNvPr name="AutoShape 11" id="11"/>
            <p:cNvSpPr/>
            <p:nvPr/>
          </p:nvSpPr>
          <p:spPr>
            <a:xfrm flipV="true">
              <a:off x="13934192" y="0"/>
              <a:ext cx="0" cy="15759844"/>
            </a:xfrm>
            <a:prstGeom prst="line">
              <a:avLst/>
            </a:prstGeom>
            <a:ln cap="flat" w="25400">
              <a:solidFill>
                <a:srgbClr val="079E5A">
                  <a:alpha val="11765"/>
                </a:srgbClr>
              </a:solidFill>
              <a:prstDash val="solid"/>
              <a:headEnd type="none" len="sm" w="sm"/>
              <a:tailEnd type="none" len="sm" w="sm"/>
            </a:ln>
          </p:spPr>
        </p:sp>
        <p:sp>
          <p:nvSpPr>
            <p:cNvPr name="AutoShape 12" id="12"/>
            <p:cNvSpPr/>
            <p:nvPr/>
          </p:nvSpPr>
          <p:spPr>
            <a:xfrm flipV="true">
              <a:off x="15674378" y="0"/>
              <a:ext cx="0" cy="15759844"/>
            </a:xfrm>
            <a:prstGeom prst="line">
              <a:avLst/>
            </a:prstGeom>
            <a:ln cap="flat" w="25400">
              <a:solidFill>
                <a:srgbClr val="079E5A">
                  <a:alpha val="11765"/>
                </a:srgbClr>
              </a:solidFill>
              <a:prstDash val="solid"/>
              <a:headEnd type="none" len="sm" w="sm"/>
              <a:tailEnd type="none" len="sm" w="sm"/>
            </a:ln>
          </p:spPr>
        </p:sp>
        <p:sp>
          <p:nvSpPr>
            <p:cNvPr name="AutoShape 13" id="13"/>
            <p:cNvSpPr/>
            <p:nvPr/>
          </p:nvSpPr>
          <p:spPr>
            <a:xfrm flipV="true">
              <a:off x="17414564" y="0"/>
              <a:ext cx="0" cy="15759844"/>
            </a:xfrm>
            <a:prstGeom prst="line">
              <a:avLst/>
            </a:prstGeom>
            <a:ln cap="flat" w="25400">
              <a:solidFill>
                <a:srgbClr val="079E5A">
                  <a:alpha val="11765"/>
                </a:srgbClr>
              </a:solidFill>
              <a:prstDash val="solid"/>
              <a:headEnd type="none" len="sm" w="sm"/>
              <a:tailEnd type="none" len="sm" w="sm"/>
            </a:ln>
          </p:spPr>
        </p:sp>
        <p:sp>
          <p:nvSpPr>
            <p:cNvPr name="AutoShape 14" id="14"/>
            <p:cNvSpPr/>
            <p:nvPr/>
          </p:nvSpPr>
          <p:spPr>
            <a:xfrm flipV="true">
              <a:off x="19154751" y="0"/>
              <a:ext cx="0" cy="15759844"/>
            </a:xfrm>
            <a:prstGeom prst="line">
              <a:avLst/>
            </a:prstGeom>
            <a:ln cap="flat" w="25400">
              <a:solidFill>
                <a:srgbClr val="079E5A">
                  <a:alpha val="11765"/>
                </a:srgbClr>
              </a:solidFill>
              <a:prstDash val="solid"/>
              <a:headEnd type="none" len="sm" w="sm"/>
              <a:tailEnd type="none" len="sm" w="sm"/>
            </a:ln>
          </p:spPr>
        </p:sp>
      </p:grpSp>
      <p:grpSp>
        <p:nvGrpSpPr>
          <p:cNvPr name="Group 15" id="15"/>
          <p:cNvGrpSpPr/>
          <p:nvPr/>
        </p:nvGrpSpPr>
        <p:grpSpPr>
          <a:xfrm rot="0">
            <a:off x="7717872" y="2756256"/>
            <a:ext cx="18945897" cy="1894589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9801897" y="-11317517"/>
            <a:ext cx="18945897" cy="1894589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21" id="21"/>
          <p:cNvSpPr txBox="true"/>
          <p:nvPr/>
        </p:nvSpPr>
        <p:spPr>
          <a:xfrm rot="0">
            <a:off x="403254" y="1183071"/>
            <a:ext cx="9695628" cy="859290"/>
          </a:xfrm>
          <a:prstGeom prst="rect">
            <a:avLst/>
          </a:prstGeom>
        </p:spPr>
        <p:txBody>
          <a:bodyPr anchor="t" rtlCol="false" tIns="0" lIns="0" bIns="0" rIns="0">
            <a:spAutoFit/>
          </a:bodyPr>
          <a:lstStyle/>
          <a:p>
            <a:pPr algn="l" marL="0" indent="0" lvl="0">
              <a:lnSpc>
                <a:spcPts val="6458"/>
              </a:lnSpc>
            </a:pPr>
            <a:r>
              <a:rPr lang="en-US" b="true" sz="6523" spc="-391">
                <a:gradFill>
                  <a:gsLst>
                    <a:gs pos="0">
                      <a:srgbClr val="FFFFFF">
                        <a:alpha val="100000"/>
                      </a:srgbClr>
                    </a:gs>
                    <a:gs pos="100000">
                      <a:srgbClr val="8D8D8D">
                        <a:alpha val="100000"/>
                      </a:srgbClr>
                    </a:gs>
                  </a:gsLst>
                  <a:path path="circle">
                    <a:fillToRect l="0" r="100000" t="0" b="100000"/>
                  </a:path>
                  <a:tileRect r="0" l="-100000" b="0" t="-100000"/>
                </a:gradFill>
                <a:latin typeface="Open Sauce Bold"/>
                <a:ea typeface="Open Sauce Bold"/>
                <a:cs typeface="Open Sauce Bold"/>
                <a:sym typeface="Open Sauce Bold"/>
              </a:rPr>
              <a:t> How NeoStock Works</a:t>
            </a:r>
          </a:p>
        </p:txBody>
      </p:sp>
      <p:sp>
        <p:nvSpPr>
          <p:cNvPr name="TextBox 22" id="22"/>
          <p:cNvSpPr txBox="true"/>
          <p:nvPr/>
        </p:nvSpPr>
        <p:spPr>
          <a:xfrm rot="0">
            <a:off x="9202124" y="808421"/>
            <a:ext cx="1793515" cy="241300"/>
          </a:xfrm>
          <a:prstGeom prst="rect">
            <a:avLst/>
          </a:prstGeom>
        </p:spPr>
        <p:txBody>
          <a:bodyPr anchor="t" rtlCol="false" tIns="0" lIns="0" bIns="0" rIns="0">
            <a:spAutoFit/>
          </a:bodyPr>
          <a:lstStyle/>
          <a:p>
            <a:pPr algn="ctr">
              <a:lnSpc>
                <a:spcPts val="1700"/>
              </a:lnSpc>
            </a:pPr>
            <a:r>
              <a:rPr lang="en-US" sz="2000" spc="-110">
                <a:solidFill>
                  <a:srgbClr val="2D2A3B"/>
                </a:solidFill>
                <a:latin typeface="Open Sauce Light"/>
                <a:ea typeface="Open Sauce Light"/>
                <a:cs typeface="Open Sauce Light"/>
                <a:sym typeface="Open Sauce Light"/>
              </a:rPr>
              <a:t>Presentation</a:t>
            </a:r>
          </a:p>
        </p:txBody>
      </p:sp>
      <p:grpSp>
        <p:nvGrpSpPr>
          <p:cNvPr name="Group 23" id="23"/>
          <p:cNvGrpSpPr/>
          <p:nvPr/>
        </p:nvGrpSpPr>
        <p:grpSpPr>
          <a:xfrm rot="0">
            <a:off x="0" y="2752948"/>
            <a:ext cx="16710411" cy="7489723"/>
            <a:chOff x="0" y="0"/>
            <a:chExt cx="4401096" cy="1972602"/>
          </a:xfrm>
        </p:grpSpPr>
        <p:sp>
          <p:nvSpPr>
            <p:cNvPr name="Freeform 24" id="24"/>
            <p:cNvSpPr/>
            <p:nvPr/>
          </p:nvSpPr>
          <p:spPr>
            <a:xfrm flipH="false" flipV="false" rot="0">
              <a:off x="0" y="0"/>
              <a:ext cx="4401096" cy="1972602"/>
            </a:xfrm>
            <a:custGeom>
              <a:avLst/>
              <a:gdLst/>
              <a:ahLst/>
              <a:cxnLst/>
              <a:rect r="r" b="b" t="t" l="l"/>
              <a:pathLst>
                <a:path h="1972602" w="4401096">
                  <a:moveTo>
                    <a:pt x="15752" y="0"/>
                  </a:moveTo>
                  <a:lnTo>
                    <a:pt x="4385344" y="0"/>
                  </a:lnTo>
                  <a:cubicBezTo>
                    <a:pt x="4394043" y="0"/>
                    <a:pt x="4401096" y="7052"/>
                    <a:pt x="4401096" y="15752"/>
                  </a:cubicBezTo>
                  <a:lnTo>
                    <a:pt x="4401096" y="1956850"/>
                  </a:lnTo>
                  <a:cubicBezTo>
                    <a:pt x="4401096" y="1961028"/>
                    <a:pt x="4399436" y="1965034"/>
                    <a:pt x="4396482" y="1967988"/>
                  </a:cubicBezTo>
                  <a:cubicBezTo>
                    <a:pt x="4393528" y="1970942"/>
                    <a:pt x="4389521" y="1972602"/>
                    <a:pt x="4385344" y="1972602"/>
                  </a:cubicBezTo>
                  <a:lnTo>
                    <a:pt x="15752" y="1972602"/>
                  </a:lnTo>
                  <a:cubicBezTo>
                    <a:pt x="7052" y="1972602"/>
                    <a:pt x="0" y="1965550"/>
                    <a:pt x="0" y="1956850"/>
                  </a:cubicBezTo>
                  <a:lnTo>
                    <a:pt x="0" y="15752"/>
                  </a:lnTo>
                  <a:cubicBezTo>
                    <a:pt x="0" y="7052"/>
                    <a:pt x="7052" y="0"/>
                    <a:pt x="15752" y="0"/>
                  </a:cubicBezTo>
                  <a:close/>
                </a:path>
              </a:pathLst>
            </a:custGeom>
            <a:gradFill rotWithShape="true">
              <a:gsLst>
                <a:gs pos="0">
                  <a:srgbClr val="FFFFFF">
                    <a:alpha val="100000"/>
                  </a:srgbClr>
                </a:gs>
                <a:gs pos="100000">
                  <a:srgbClr val="D6D6D6">
                    <a:alpha val="100000"/>
                  </a:srgbClr>
                </a:gs>
              </a:gsLst>
              <a:lin ang="0"/>
            </a:gradFill>
            <a:ln w="38100" cap="rnd">
              <a:gradFill>
                <a:gsLst>
                  <a:gs pos="0">
                    <a:srgbClr val="FFFFFF">
                      <a:alpha val="100000"/>
                    </a:srgbClr>
                  </a:gs>
                  <a:gs pos="100000">
                    <a:srgbClr val="D6D6D6">
                      <a:alpha val="100000"/>
                    </a:srgbClr>
                  </a:gs>
                </a:gsLst>
                <a:lin ang="0"/>
              </a:gradFill>
              <a:prstDash val="solid"/>
              <a:round/>
            </a:ln>
          </p:spPr>
        </p:sp>
        <p:sp>
          <p:nvSpPr>
            <p:cNvPr name="TextBox 25" id="25"/>
            <p:cNvSpPr txBox="true"/>
            <p:nvPr/>
          </p:nvSpPr>
          <p:spPr>
            <a:xfrm>
              <a:off x="0" y="-47625"/>
              <a:ext cx="4401096" cy="2020227"/>
            </a:xfrm>
            <a:prstGeom prst="rect">
              <a:avLst/>
            </a:prstGeom>
          </p:spPr>
          <p:txBody>
            <a:bodyPr anchor="ctr" rtlCol="false" tIns="50800" lIns="50800" bIns="50800" rIns="50800"/>
            <a:lstStyle/>
            <a:p>
              <a:pPr algn="l">
                <a:lnSpc>
                  <a:spcPts val="3639"/>
                </a:lnSpc>
              </a:pPr>
              <a:r>
                <a:rPr lang="en-US" sz="2599" spc="-132">
                  <a:solidFill>
                    <a:srgbClr val="000000"/>
                  </a:solidFill>
                  <a:latin typeface="Open Sauce"/>
                  <a:ea typeface="Open Sauce"/>
                  <a:cs typeface="Open Sauce"/>
                  <a:sym typeface="Open Sauce"/>
                </a:rPr>
                <a:t>From Raw Data to Smart Decisions</a:t>
              </a:r>
            </a:p>
            <a:p>
              <a:pPr algn="l">
                <a:lnSpc>
                  <a:spcPts val="3639"/>
                </a:lnSpc>
              </a:pPr>
              <a:r>
                <a:rPr lang="en-US" sz="2599" spc="-132">
                  <a:solidFill>
                    <a:srgbClr val="000000"/>
                  </a:solidFill>
                  <a:latin typeface="Open Sauce"/>
                  <a:ea typeface="Open Sauce"/>
                  <a:cs typeface="Open Sauce"/>
                  <a:sym typeface="Open Sauce"/>
                </a:rPr>
                <a:t>NeoStock follows a simple process to transform business data into useful actions.</a:t>
              </a:r>
            </a:p>
            <a:p>
              <a:pPr algn="l">
                <a:lnSpc>
                  <a:spcPts val="3639"/>
                </a:lnSpc>
              </a:pPr>
              <a:r>
                <a:rPr lang="en-US" sz="2599" spc="-132">
                  <a:solidFill>
                    <a:srgbClr val="000000"/>
                  </a:solidFill>
                  <a:latin typeface="Open Sauce"/>
                  <a:ea typeface="Open Sauce"/>
                  <a:cs typeface="Open Sauce"/>
                  <a:sym typeface="Open Sauce"/>
                </a:rPr>
                <a:t>Step 1 — Data Collection</a:t>
              </a:r>
            </a:p>
            <a:p>
              <a:pPr algn="l">
                <a:lnSpc>
                  <a:spcPts val="3639"/>
                </a:lnSpc>
              </a:pPr>
              <a:r>
                <a:rPr lang="en-US" sz="2599" spc="-132">
                  <a:solidFill>
                    <a:srgbClr val="000000"/>
                  </a:solidFill>
                  <a:latin typeface="Open Sauce"/>
                  <a:ea typeface="Open Sauce"/>
                  <a:cs typeface="Open Sauce"/>
                  <a:sym typeface="Open Sauce"/>
                </a:rPr>
                <a:t>The system uses information about products, inventory, and sales performance as the foundation for its analysis.</a:t>
              </a:r>
            </a:p>
            <a:p>
              <a:pPr algn="l">
                <a:lnSpc>
                  <a:spcPts val="3639"/>
                </a:lnSpc>
              </a:pPr>
              <a:r>
                <a:rPr lang="en-US" sz="2599" spc="-132">
                  <a:solidFill>
                    <a:srgbClr val="000000"/>
                  </a:solidFill>
                  <a:latin typeface="Open Sauce"/>
                  <a:ea typeface="Open Sauce"/>
                  <a:cs typeface="Open Sauce"/>
                  <a:sym typeface="Open Sauce"/>
                </a:rPr>
                <a:t>Step 2 — Data Analysis</a:t>
              </a:r>
            </a:p>
            <a:p>
              <a:pPr algn="l">
                <a:lnSpc>
                  <a:spcPts val="3639"/>
                </a:lnSpc>
              </a:pPr>
              <a:r>
                <a:rPr lang="en-US" sz="2599" spc="-132">
                  <a:solidFill>
                    <a:srgbClr val="000000"/>
                  </a:solidFill>
                  <a:latin typeface="Open Sauce"/>
                  <a:ea typeface="Open Sauce"/>
                  <a:cs typeface="Open Sauce"/>
                  <a:sym typeface="Open Sauce"/>
                </a:rPr>
                <a:t>NeoStock processes the available information to identify sales trends, product performance, and changes in inventory.</a:t>
              </a:r>
            </a:p>
            <a:p>
              <a:pPr algn="l">
                <a:lnSpc>
                  <a:spcPts val="3639"/>
                </a:lnSpc>
              </a:pPr>
              <a:r>
                <a:rPr lang="en-US" sz="2599" spc="-132">
                  <a:solidFill>
                    <a:srgbClr val="000000"/>
                  </a:solidFill>
                  <a:latin typeface="Open Sauce"/>
                  <a:ea typeface="Open Sauce"/>
                  <a:cs typeface="Open Sauce"/>
                  <a:sym typeface="Open Sauce"/>
                </a:rPr>
                <a:t>Step 3 — Problem Detection</a:t>
              </a:r>
            </a:p>
            <a:p>
              <a:pPr algn="l">
                <a:lnSpc>
                  <a:spcPts val="3639"/>
                </a:lnSpc>
              </a:pPr>
              <a:r>
                <a:rPr lang="en-US" sz="2599" spc="-132">
                  <a:solidFill>
                    <a:srgbClr val="000000"/>
                  </a:solidFill>
                  <a:latin typeface="Open Sauce"/>
                  <a:ea typeface="Open Sauce"/>
                  <a:cs typeface="Open Sauce"/>
                  <a:sym typeface="Open Sauce"/>
                </a:rPr>
                <a:t>The system can identify situations such as products with low sales, products remaining in stock for a long period, or products showing strong demand.</a:t>
              </a:r>
            </a:p>
            <a:p>
              <a:pPr algn="l">
                <a:lnSpc>
                  <a:spcPts val="3639"/>
                </a:lnSpc>
              </a:pPr>
              <a:r>
                <a:rPr lang="en-US" sz="2599" spc="-132">
                  <a:solidFill>
                    <a:srgbClr val="000000"/>
                  </a:solidFill>
                  <a:latin typeface="Open Sauce"/>
                  <a:ea typeface="Open Sauce"/>
                  <a:cs typeface="Open Sauce"/>
                  <a:sym typeface="Open Sauce"/>
                </a:rPr>
                <a:t>Step 4 — AI Recommendations</a:t>
              </a:r>
            </a:p>
            <a:p>
              <a:pPr algn="l">
                <a:lnSpc>
                  <a:spcPts val="3639"/>
                </a:lnSpc>
              </a:pPr>
              <a:r>
                <a:rPr lang="en-US" sz="2599" spc="-132">
                  <a:solidFill>
                    <a:srgbClr val="000000"/>
                  </a:solidFill>
                  <a:latin typeface="Open Sauce"/>
                  <a:ea typeface="Open Sauce"/>
                  <a:cs typeface="Open Sauce"/>
                  <a:sym typeface="Open Sauce"/>
                </a:rPr>
                <a:t>The AI assistant uses the available insights to suggest possible actions that the manager can consider.</a:t>
              </a:r>
            </a:p>
            <a:p>
              <a:pPr algn="l">
                <a:lnSpc>
                  <a:spcPts val="3639"/>
                </a:lnSpc>
              </a:pPr>
              <a:r>
                <a:rPr lang="en-US" sz="2599" spc="-132">
                  <a:solidFill>
                    <a:srgbClr val="000000"/>
                  </a:solidFill>
                  <a:latin typeface="Open Sauce"/>
                  <a:ea typeface="Open Sauce"/>
                  <a:cs typeface="Open Sauce"/>
                  <a:sym typeface="Open Sauce"/>
                </a:rPr>
                <a:t>Step 5 — Business Action</a:t>
              </a:r>
            </a:p>
            <a:p>
              <a:pPr algn="l">
                <a:lnSpc>
                  <a:spcPts val="3639"/>
                </a:lnSpc>
              </a:pPr>
              <a:r>
                <a:rPr lang="en-US" sz="2599" spc="-132">
                  <a:solidFill>
                    <a:srgbClr val="000000"/>
                  </a:solidFill>
                  <a:latin typeface="Open Sauce"/>
                  <a:ea typeface="Open Sauce"/>
                  <a:cs typeface="Open Sauce"/>
                  <a:sym typeface="Open Sauce"/>
                </a:rPr>
                <a:t>The manager can use these insights to make informed decisions about promotions, bundles, inventory management, or other business strategies.</a:t>
              </a:r>
            </a:p>
            <a:p>
              <a:pPr algn="l">
                <a:lnSpc>
                  <a:spcPts val="3639"/>
                </a:lnSpc>
              </a:pP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F3129"/>
        </a:solidFill>
      </p:bgPr>
    </p:bg>
    <p:spTree>
      <p:nvGrpSpPr>
        <p:cNvPr id="1" name=""/>
        <p:cNvGrpSpPr/>
        <p:nvPr/>
      </p:nvGrpSpPr>
      <p:grpSpPr>
        <a:xfrm>
          <a:off x="0" y="0"/>
          <a:ext cx="0" cy="0"/>
          <a:chOff x="0" y="0"/>
          <a:chExt cx="0" cy="0"/>
        </a:xfrm>
      </p:grpSpPr>
      <p:grpSp>
        <p:nvGrpSpPr>
          <p:cNvPr name="Group 2" id="2"/>
          <p:cNvGrpSpPr/>
          <p:nvPr/>
        </p:nvGrpSpPr>
        <p:grpSpPr>
          <a:xfrm rot="0">
            <a:off x="1956206" y="-766442"/>
            <a:ext cx="14375588" cy="11819883"/>
            <a:chOff x="0" y="0"/>
            <a:chExt cx="19167451" cy="15759844"/>
          </a:xfrm>
        </p:grpSpPr>
        <p:sp>
          <p:nvSpPr>
            <p:cNvPr name="AutoShape 3" id="3"/>
            <p:cNvSpPr/>
            <p:nvPr/>
          </p:nvSpPr>
          <p:spPr>
            <a:xfrm flipV="true">
              <a:off x="12700" y="0"/>
              <a:ext cx="0" cy="15759844"/>
            </a:xfrm>
            <a:prstGeom prst="line">
              <a:avLst/>
            </a:prstGeom>
            <a:ln cap="flat" w="25400">
              <a:solidFill>
                <a:srgbClr val="079E5A">
                  <a:alpha val="11765"/>
                </a:srgbClr>
              </a:solidFill>
              <a:prstDash val="solid"/>
              <a:headEnd type="none" len="sm" w="sm"/>
              <a:tailEnd type="none" len="sm" w="sm"/>
            </a:ln>
          </p:spPr>
        </p:sp>
        <p:sp>
          <p:nvSpPr>
            <p:cNvPr name="AutoShape 4" id="4"/>
            <p:cNvSpPr/>
            <p:nvPr/>
          </p:nvSpPr>
          <p:spPr>
            <a:xfrm flipV="true">
              <a:off x="1752886" y="0"/>
              <a:ext cx="0" cy="15759844"/>
            </a:xfrm>
            <a:prstGeom prst="line">
              <a:avLst/>
            </a:prstGeom>
            <a:ln cap="flat" w="25400">
              <a:solidFill>
                <a:srgbClr val="079E5A">
                  <a:alpha val="11765"/>
                </a:srgbClr>
              </a:solidFill>
              <a:prstDash val="solid"/>
              <a:headEnd type="none" len="sm" w="sm"/>
              <a:tailEnd type="none" len="sm" w="sm"/>
            </a:ln>
          </p:spPr>
        </p:sp>
        <p:sp>
          <p:nvSpPr>
            <p:cNvPr name="AutoShape 5" id="5"/>
            <p:cNvSpPr/>
            <p:nvPr/>
          </p:nvSpPr>
          <p:spPr>
            <a:xfrm flipV="true">
              <a:off x="3493073" y="0"/>
              <a:ext cx="0" cy="15759844"/>
            </a:xfrm>
            <a:prstGeom prst="line">
              <a:avLst/>
            </a:prstGeom>
            <a:ln cap="flat" w="25400">
              <a:solidFill>
                <a:srgbClr val="079E5A">
                  <a:alpha val="11765"/>
                </a:srgbClr>
              </a:solidFill>
              <a:prstDash val="solid"/>
              <a:headEnd type="none" len="sm" w="sm"/>
              <a:tailEnd type="none" len="sm" w="sm"/>
            </a:ln>
          </p:spPr>
        </p:sp>
        <p:sp>
          <p:nvSpPr>
            <p:cNvPr name="AutoShape 6" id="6"/>
            <p:cNvSpPr/>
            <p:nvPr/>
          </p:nvSpPr>
          <p:spPr>
            <a:xfrm flipV="true">
              <a:off x="5233259" y="0"/>
              <a:ext cx="0" cy="15759844"/>
            </a:xfrm>
            <a:prstGeom prst="line">
              <a:avLst/>
            </a:prstGeom>
            <a:ln cap="flat" w="25400">
              <a:solidFill>
                <a:srgbClr val="079E5A">
                  <a:alpha val="11765"/>
                </a:srgbClr>
              </a:solidFill>
              <a:prstDash val="solid"/>
              <a:headEnd type="none" len="sm" w="sm"/>
              <a:tailEnd type="none" len="sm" w="sm"/>
            </a:ln>
          </p:spPr>
        </p:sp>
        <p:sp>
          <p:nvSpPr>
            <p:cNvPr name="AutoShape 7" id="7"/>
            <p:cNvSpPr/>
            <p:nvPr/>
          </p:nvSpPr>
          <p:spPr>
            <a:xfrm flipV="true">
              <a:off x="6973446" y="0"/>
              <a:ext cx="0" cy="15759844"/>
            </a:xfrm>
            <a:prstGeom prst="line">
              <a:avLst/>
            </a:prstGeom>
            <a:ln cap="flat" w="25400">
              <a:solidFill>
                <a:srgbClr val="079E5A">
                  <a:alpha val="11765"/>
                </a:srgbClr>
              </a:solidFill>
              <a:prstDash val="solid"/>
              <a:headEnd type="none" len="sm" w="sm"/>
              <a:tailEnd type="none" len="sm" w="sm"/>
            </a:ln>
          </p:spPr>
        </p:sp>
        <p:sp>
          <p:nvSpPr>
            <p:cNvPr name="AutoShape 8" id="8"/>
            <p:cNvSpPr/>
            <p:nvPr/>
          </p:nvSpPr>
          <p:spPr>
            <a:xfrm flipV="true">
              <a:off x="8713632" y="0"/>
              <a:ext cx="0" cy="15759844"/>
            </a:xfrm>
            <a:prstGeom prst="line">
              <a:avLst/>
            </a:prstGeom>
            <a:ln cap="flat" w="25400">
              <a:solidFill>
                <a:srgbClr val="079E5A">
                  <a:alpha val="11765"/>
                </a:srgbClr>
              </a:solidFill>
              <a:prstDash val="solid"/>
              <a:headEnd type="none" len="sm" w="sm"/>
              <a:tailEnd type="none" len="sm" w="sm"/>
            </a:ln>
          </p:spPr>
        </p:sp>
        <p:sp>
          <p:nvSpPr>
            <p:cNvPr name="AutoShape 9" id="9"/>
            <p:cNvSpPr/>
            <p:nvPr/>
          </p:nvSpPr>
          <p:spPr>
            <a:xfrm flipV="true">
              <a:off x="10453819" y="0"/>
              <a:ext cx="0" cy="15759844"/>
            </a:xfrm>
            <a:prstGeom prst="line">
              <a:avLst/>
            </a:prstGeom>
            <a:ln cap="flat" w="25400">
              <a:solidFill>
                <a:srgbClr val="079E5A">
                  <a:alpha val="11765"/>
                </a:srgbClr>
              </a:solidFill>
              <a:prstDash val="solid"/>
              <a:headEnd type="none" len="sm" w="sm"/>
              <a:tailEnd type="none" len="sm" w="sm"/>
            </a:ln>
          </p:spPr>
        </p:sp>
        <p:sp>
          <p:nvSpPr>
            <p:cNvPr name="AutoShape 10" id="10"/>
            <p:cNvSpPr/>
            <p:nvPr/>
          </p:nvSpPr>
          <p:spPr>
            <a:xfrm flipV="true">
              <a:off x="12194005" y="0"/>
              <a:ext cx="0" cy="15759844"/>
            </a:xfrm>
            <a:prstGeom prst="line">
              <a:avLst/>
            </a:prstGeom>
            <a:ln cap="flat" w="25400">
              <a:solidFill>
                <a:srgbClr val="079E5A">
                  <a:alpha val="11765"/>
                </a:srgbClr>
              </a:solidFill>
              <a:prstDash val="solid"/>
              <a:headEnd type="none" len="sm" w="sm"/>
              <a:tailEnd type="none" len="sm" w="sm"/>
            </a:ln>
          </p:spPr>
        </p:sp>
        <p:sp>
          <p:nvSpPr>
            <p:cNvPr name="AutoShape 11" id="11"/>
            <p:cNvSpPr/>
            <p:nvPr/>
          </p:nvSpPr>
          <p:spPr>
            <a:xfrm flipV="true">
              <a:off x="13934192" y="0"/>
              <a:ext cx="0" cy="15759844"/>
            </a:xfrm>
            <a:prstGeom prst="line">
              <a:avLst/>
            </a:prstGeom>
            <a:ln cap="flat" w="25400">
              <a:solidFill>
                <a:srgbClr val="079E5A">
                  <a:alpha val="11765"/>
                </a:srgbClr>
              </a:solidFill>
              <a:prstDash val="solid"/>
              <a:headEnd type="none" len="sm" w="sm"/>
              <a:tailEnd type="none" len="sm" w="sm"/>
            </a:ln>
          </p:spPr>
        </p:sp>
        <p:sp>
          <p:nvSpPr>
            <p:cNvPr name="AutoShape 12" id="12"/>
            <p:cNvSpPr/>
            <p:nvPr/>
          </p:nvSpPr>
          <p:spPr>
            <a:xfrm flipV="true">
              <a:off x="15674378" y="0"/>
              <a:ext cx="0" cy="15759844"/>
            </a:xfrm>
            <a:prstGeom prst="line">
              <a:avLst/>
            </a:prstGeom>
            <a:ln cap="flat" w="25400">
              <a:solidFill>
                <a:srgbClr val="079E5A">
                  <a:alpha val="11765"/>
                </a:srgbClr>
              </a:solidFill>
              <a:prstDash val="solid"/>
              <a:headEnd type="none" len="sm" w="sm"/>
              <a:tailEnd type="none" len="sm" w="sm"/>
            </a:ln>
          </p:spPr>
        </p:sp>
        <p:sp>
          <p:nvSpPr>
            <p:cNvPr name="AutoShape 13" id="13"/>
            <p:cNvSpPr/>
            <p:nvPr/>
          </p:nvSpPr>
          <p:spPr>
            <a:xfrm flipV="true">
              <a:off x="17414564" y="0"/>
              <a:ext cx="0" cy="15759844"/>
            </a:xfrm>
            <a:prstGeom prst="line">
              <a:avLst/>
            </a:prstGeom>
            <a:ln cap="flat" w="25400">
              <a:solidFill>
                <a:srgbClr val="079E5A">
                  <a:alpha val="11765"/>
                </a:srgbClr>
              </a:solidFill>
              <a:prstDash val="solid"/>
              <a:headEnd type="none" len="sm" w="sm"/>
              <a:tailEnd type="none" len="sm" w="sm"/>
            </a:ln>
          </p:spPr>
        </p:sp>
        <p:sp>
          <p:nvSpPr>
            <p:cNvPr name="AutoShape 14" id="14"/>
            <p:cNvSpPr/>
            <p:nvPr/>
          </p:nvSpPr>
          <p:spPr>
            <a:xfrm flipV="true">
              <a:off x="19154751" y="0"/>
              <a:ext cx="0" cy="15759844"/>
            </a:xfrm>
            <a:prstGeom prst="line">
              <a:avLst/>
            </a:prstGeom>
            <a:ln cap="flat" w="25400">
              <a:solidFill>
                <a:srgbClr val="079E5A">
                  <a:alpha val="11765"/>
                </a:srgbClr>
              </a:solidFill>
              <a:prstDash val="solid"/>
              <a:headEnd type="none" len="sm" w="sm"/>
              <a:tailEnd type="none" len="sm" w="sm"/>
            </a:ln>
          </p:spPr>
        </p:sp>
      </p:grpSp>
      <p:grpSp>
        <p:nvGrpSpPr>
          <p:cNvPr name="Group 15" id="15"/>
          <p:cNvGrpSpPr/>
          <p:nvPr/>
        </p:nvGrpSpPr>
        <p:grpSpPr>
          <a:xfrm rot="0">
            <a:off x="7404840" y="3082483"/>
            <a:ext cx="18945897" cy="1894589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8366499" y="-11078284"/>
            <a:ext cx="18945897" cy="1894589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0">
            <a:off x="-65245" y="1428805"/>
            <a:ext cx="7470085" cy="3568338"/>
            <a:chOff x="0" y="0"/>
            <a:chExt cx="1967430" cy="939809"/>
          </a:xfrm>
        </p:grpSpPr>
        <p:sp>
          <p:nvSpPr>
            <p:cNvPr name="Freeform 22" id="22"/>
            <p:cNvSpPr/>
            <p:nvPr/>
          </p:nvSpPr>
          <p:spPr>
            <a:xfrm flipH="false" flipV="false" rot="0">
              <a:off x="0" y="0"/>
              <a:ext cx="1967430" cy="939809"/>
            </a:xfrm>
            <a:custGeom>
              <a:avLst/>
              <a:gdLst/>
              <a:ahLst/>
              <a:cxnLst/>
              <a:rect r="r" b="b" t="t" l="l"/>
              <a:pathLst>
                <a:path h="939809" w="1967430">
                  <a:moveTo>
                    <a:pt x="35237" y="0"/>
                  </a:moveTo>
                  <a:lnTo>
                    <a:pt x="1932193" y="0"/>
                  </a:lnTo>
                  <a:cubicBezTo>
                    <a:pt x="1941538" y="0"/>
                    <a:pt x="1950501" y="3712"/>
                    <a:pt x="1957109" y="10321"/>
                  </a:cubicBezTo>
                  <a:cubicBezTo>
                    <a:pt x="1963717" y="16929"/>
                    <a:pt x="1967430" y="25892"/>
                    <a:pt x="1967430" y="35237"/>
                  </a:cubicBezTo>
                  <a:lnTo>
                    <a:pt x="1967430" y="904572"/>
                  </a:lnTo>
                  <a:cubicBezTo>
                    <a:pt x="1967430" y="924033"/>
                    <a:pt x="1951654" y="939809"/>
                    <a:pt x="1932193" y="939809"/>
                  </a:cubicBezTo>
                  <a:lnTo>
                    <a:pt x="35237" y="939809"/>
                  </a:lnTo>
                  <a:cubicBezTo>
                    <a:pt x="25892" y="939809"/>
                    <a:pt x="16929" y="936097"/>
                    <a:pt x="10321" y="929488"/>
                  </a:cubicBezTo>
                  <a:cubicBezTo>
                    <a:pt x="3712" y="922880"/>
                    <a:pt x="0" y="913917"/>
                    <a:pt x="0" y="904572"/>
                  </a:cubicBezTo>
                  <a:lnTo>
                    <a:pt x="0" y="35237"/>
                  </a:lnTo>
                  <a:cubicBezTo>
                    <a:pt x="0" y="25892"/>
                    <a:pt x="3712" y="16929"/>
                    <a:pt x="10321" y="10321"/>
                  </a:cubicBezTo>
                  <a:cubicBezTo>
                    <a:pt x="16929" y="3712"/>
                    <a:pt x="25892" y="0"/>
                    <a:pt x="35237" y="0"/>
                  </a:cubicBezTo>
                  <a:close/>
                </a:path>
              </a:pathLst>
            </a:custGeom>
            <a:gradFill rotWithShape="true">
              <a:gsLst>
                <a:gs pos="0">
                  <a:srgbClr val="FFFFFF">
                    <a:alpha val="100000"/>
                  </a:srgbClr>
                </a:gs>
                <a:gs pos="100000">
                  <a:srgbClr val="D6D6D6">
                    <a:alpha val="100000"/>
                  </a:srgbClr>
                </a:gs>
              </a:gsLst>
              <a:lin ang="0"/>
            </a:gradFill>
            <a:ln w="38100" cap="rnd">
              <a:gradFill>
                <a:gsLst>
                  <a:gs pos="0">
                    <a:srgbClr val="FFFFFF">
                      <a:alpha val="100000"/>
                    </a:srgbClr>
                  </a:gs>
                  <a:gs pos="100000">
                    <a:srgbClr val="D6D6D6">
                      <a:alpha val="100000"/>
                    </a:srgbClr>
                  </a:gs>
                </a:gsLst>
                <a:lin ang="0"/>
              </a:gradFill>
              <a:prstDash val="solid"/>
              <a:round/>
            </a:ln>
          </p:spPr>
        </p:sp>
        <p:sp>
          <p:nvSpPr>
            <p:cNvPr name="TextBox 23" id="23"/>
            <p:cNvSpPr txBox="true"/>
            <p:nvPr/>
          </p:nvSpPr>
          <p:spPr>
            <a:xfrm>
              <a:off x="0" y="-28575"/>
              <a:ext cx="1967430" cy="968384"/>
            </a:xfrm>
            <a:prstGeom prst="rect">
              <a:avLst/>
            </a:prstGeom>
          </p:spPr>
          <p:txBody>
            <a:bodyPr anchor="ctr" rtlCol="false" tIns="50800" lIns="50800" bIns="50800" rIns="50800"/>
            <a:lstStyle/>
            <a:p>
              <a:pPr algn="ctr">
                <a:lnSpc>
                  <a:spcPts val="2240"/>
                </a:lnSpc>
              </a:pPr>
            </a:p>
          </p:txBody>
        </p:sp>
      </p:grpSp>
      <p:grpSp>
        <p:nvGrpSpPr>
          <p:cNvPr name="Group 24" id="24"/>
          <p:cNvGrpSpPr/>
          <p:nvPr/>
        </p:nvGrpSpPr>
        <p:grpSpPr>
          <a:xfrm rot="0">
            <a:off x="0" y="5487207"/>
            <a:ext cx="7470085" cy="3568338"/>
            <a:chOff x="0" y="0"/>
            <a:chExt cx="1967430" cy="939809"/>
          </a:xfrm>
        </p:grpSpPr>
        <p:sp>
          <p:nvSpPr>
            <p:cNvPr name="Freeform 25" id="25"/>
            <p:cNvSpPr/>
            <p:nvPr/>
          </p:nvSpPr>
          <p:spPr>
            <a:xfrm flipH="false" flipV="false" rot="0">
              <a:off x="0" y="0"/>
              <a:ext cx="1967430" cy="939809"/>
            </a:xfrm>
            <a:custGeom>
              <a:avLst/>
              <a:gdLst/>
              <a:ahLst/>
              <a:cxnLst/>
              <a:rect r="r" b="b" t="t" l="l"/>
              <a:pathLst>
                <a:path h="939809" w="1967430">
                  <a:moveTo>
                    <a:pt x="35237" y="0"/>
                  </a:moveTo>
                  <a:lnTo>
                    <a:pt x="1932193" y="0"/>
                  </a:lnTo>
                  <a:cubicBezTo>
                    <a:pt x="1941538" y="0"/>
                    <a:pt x="1950501" y="3712"/>
                    <a:pt x="1957109" y="10321"/>
                  </a:cubicBezTo>
                  <a:cubicBezTo>
                    <a:pt x="1963717" y="16929"/>
                    <a:pt x="1967430" y="25892"/>
                    <a:pt x="1967430" y="35237"/>
                  </a:cubicBezTo>
                  <a:lnTo>
                    <a:pt x="1967430" y="904572"/>
                  </a:lnTo>
                  <a:cubicBezTo>
                    <a:pt x="1967430" y="924033"/>
                    <a:pt x="1951654" y="939809"/>
                    <a:pt x="1932193" y="939809"/>
                  </a:cubicBezTo>
                  <a:lnTo>
                    <a:pt x="35237" y="939809"/>
                  </a:lnTo>
                  <a:cubicBezTo>
                    <a:pt x="25892" y="939809"/>
                    <a:pt x="16929" y="936097"/>
                    <a:pt x="10321" y="929488"/>
                  </a:cubicBezTo>
                  <a:cubicBezTo>
                    <a:pt x="3712" y="922880"/>
                    <a:pt x="0" y="913917"/>
                    <a:pt x="0" y="904572"/>
                  </a:cubicBezTo>
                  <a:lnTo>
                    <a:pt x="0" y="35237"/>
                  </a:lnTo>
                  <a:cubicBezTo>
                    <a:pt x="0" y="25892"/>
                    <a:pt x="3712" y="16929"/>
                    <a:pt x="10321" y="10321"/>
                  </a:cubicBezTo>
                  <a:cubicBezTo>
                    <a:pt x="16929" y="3712"/>
                    <a:pt x="25892" y="0"/>
                    <a:pt x="35237" y="0"/>
                  </a:cubicBezTo>
                  <a:close/>
                </a:path>
              </a:pathLst>
            </a:custGeom>
            <a:gradFill rotWithShape="true">
              <a:gsLst>
                <a:gs pos="0">
                  <a:srgbClr val="FFFFFF">
                    <a:alpha val="100000"/>
                  </a:srgbClr>
                </a:gs>
                <a:gs pos="100000">
                  <a:srgbClr val="D6D6D6">
                    <a:alpha val="100000"/>
                  </a:srgbClr>
                </a:gs>
              </a:gsLst>
              <a:lin ang="0"/>
            </a:gradFill>
            <a:ln w="38100" cap="rnd">
              <a:gradFill>
                <a:gsLst>
                  <a:gs pos="0">
                    <a:srgbClr val="FFFFFF">
                      <a:alpha val="100000"/>
                    </a:srgbClr>
                  </a:gs>
                  <a:gs pos="100000">
                    <a:srgbClr val="D6D6D6">
                      <a:alpha val="100000"/>
                    </a:srgbClr>
                  </a:gs>
                </a:gsLst>
                <a:lin ang="0"/>
              </a:gradFill>
              <a:prstDash val="solid"/>
              <a:round/>
            </a:ln>
          </p:spPr>
        </p:sp>
        <p:sp>
          <p:nvSpPr>
            <p:cNvPr name="TextBox 26" id="26"/>
            <p:cNvSpPr txBox="true"/>
            <p:nvPr/>
          </p:nvSpPr>
          <p:spPr>
            <a:xfrm>
              <a:off x="0" y="-28575"/>
              <a:ext cx="1967430" cy="968384"/>
            </a:xfrm>
            <a:prstGeom prst="rect">
              <a:avLst/>
            </a:prstGeom>
          </p:spPr>
          <p:txBody>
            <a:bodyPr anchor="ctr" rtlCol="false" tIns="50800" lIns="50800" bIns="50800" rIns="50800"/>
            <a:lstStyle/>
            <a:p>
              <a:pPr algn="ctr">
                <a:lnSpc>
                  <a:spcPts val="2240"/>
                </a:lnSpc>
              </a:pPr>
            </a:p>
          </p:txBody>
        </p:sp>
      </p:grpSp>
      <p:grpSp>
        <p:nvGrpSpPr>
          <p:cNvPr name="Group 27" id="27"/>
          <p:cNvGrpSpPr/>
          <p:nvPr/>
        </p:nvGrpSpPr>
        <p:grpSpPr>
          <a:xfrm rot="0">
            <a:off x="7911577" y="3207738"/>
            <a:ext cx="10130065" cy="5847806"/>
            <a:chOff x="0" y="0"/>
            <a:chExt cx="1544531" cy="891615"/>
          </a:xfrm>
        </p:grpSpPr>
        <p:sp>
          <p:nvSpPr>
            <p:cNvPr name="Freeform 28" id="28"/>
            <p:cNvSpPr/>
            <p:nvPr/>
          </p:nvSpPr>
          <p:spPr>
            <a:xfrm flipH="false" flipV="false" rot="0">
              <a:off x="0" y="0"/>
              <a:ext cx="1544531" cy="891615"/>
            </a:xfrm>
            <a:custGeom>
              <a:avLst/>
              <a:gdLst/>
              <a:ahLst/>
              <a:cxnLst/>
              <a:rect r="r" b="b" t="t" l="l"/>
              <a:pathLst>
                <a:path h="891615" w="1544531">
                  <a:moveTo>
                    <a:pt x="17578" y="0"/>
                  </a:moveTo>
                  <a:lnTo>
                    <a:pt x="1526954" y="0"/>
                  </a:lnTo>
                  <a:cubicBezTo>
                    <a:pt x="1531616" y="0"/>
                    <a:pt x="1536086" y="1852"/>
                    <a:pt x="1539383" y="5148"/>
                  </a:cubicBezTo>
                  <a:cubicBezTo>
                    <a:pt x="1542679" y="8445"/>
                    <a:pt x="1544531" y="12916"/>
                    <a:pt x="1544531" y="17578"/>
                  </a:cubicBezTo>
                  <a:lnTo>
                    <a:pt x="1544531" y="874037"/>
                  </a:lnTo>
                  <a:cubicBezTo>
                    <a:pt x="1544531" y="878699"/>
                    <a:pt x="1542679" y="883170"/>
                    <a:pt x="1539383" y="886467"/>
                  </a:cubicBezTo>
                  <a:cubicBezTo>
                    <a:pt x="1536086" y="889763"/>
                    <a:pt x="1531616" y="891615"/>
                    <a:pt x="1526954" y="891615"/>
                  </a:cubicBezTo>
                  <a:lnTo>
                    <a:pt x="17578" y="891615"/>
                  </a:lnTo>
                  <a:cubicBezTo>
                    <a:pt x="12916" y="891615"/>
                    <a:pt x="8445" y="889763"/>
                    <a:pt x="5148" y="886467"/>
                  </a:cubicBezTo>
                  <a:cubicBezTo>
                    <a:pt x="1852" y="883170"/>
                    <a:pt x="0" y="878699"/>
                    <a:pt x="0" y="874037"/>
                  </a:cubicBezTo>
                  <a:lnTo>
                    <a:pt x="0" y="17578"/>
                  </a:lnTo>
                  <a:cubicBezTo>
                    <a:pt x="0" y="12916"/>
                    <a:pt x="1852" y="8445"/>
                    <a:pt x="5148" y="5148"/>
                  </a:cubicBezTo>
                  <a:cubicBezTo>
                    <a:pt x="8445" y="1852"/>
                    <a:pt x="12916" y="0"/>
                    <a:pt x="17578" y="0"/>
                  </a:cubicBezTo>
                  <a:close/>
                </a:path>
              </a:pathLst>
            </a:custGeom>
            <a:blipFill>
              <a:blip r:embed="rId2"/>
              <a:stretch>
                <a:fillRect l="-1438" t="0" r="-1438" b="0"/>
              </a:stretch>
            </a:blipFill>
            <a:ln w="19050" cap="rnd">
              <a:gradFill>
                <a:gsLst>
                  <a:gs pos="0">
                    <a:srgbClr val="EEF0FE">
                      <a:alpha val="100000"/>
                    </a:srgbClr>
                  </a:gs>
                  <a:gs pos="25000">
                    <a:srgbClr val="958B96">
                      <a:alpha val="100000"/>
                    </a:srgbClr>
                  </a:gs>
                  <a:gs pos="50000">
                    <a:srgbClr val="EEF1FF">
                      <a:alpha val="100000"/>
                    </a:srgbClr>
                  </a:gs>
                  <a:gs pos="75000">
                    <a:srgbClr val="968B96">
                      <a:alpha val="100000"/>
                    </a:srgbClr>
                  </a:gs>
                  <a:gs pos="100000">
                    <a:srgbClr val="EEF1FF">
                      <a:alpha val="100000"/>
                    </a:srgbClr>
                  </a:gs>
                </a:gsLst>
                <a:lin ang="2700000"/>
              </a:gradFill>
              <a:prstDash val="solid"/>
              <a:round/>
            </a:ln>
          </p:spPr>
        </p:sp>
      </p:grpSp>
      <p:sp>
        <p:nvSpPr>
          <p:cNvPr name="TextBox 29" id="29"/>
          <p:cNvSpPr txBox="true"/>
          <p:nvPr/>
        </p:nvSpPr>
        <p:spPr>
          <a:xfrm rot="0">
            <a:off x="10265729" y="556278"/>
            <a:ext cx="6511871" cy="2209219"/>
          </a:xfrm>
          <a:prstGeom prst="rect">
            <a:avLst/>
          </a:prstGeom>
        </p:spPr>
        <p:txBody>
          <a:bodyPr anchor="t" rtlCol="false" tIns="0" lIns="0" bIns="0" rIns="0">
            <a:spAutoFit/>
          </a:bodyPr>
          <a:lstStyle/>
          <a:p>
            <a:pPr algn="l">
              <a:lnSpc>
                <a:spcPts val="8488"/>
              </a:lnSpc>
            </a:pPr>
            <a:r>
              <a:rPr lang="en-US" b="true" sz="8574" spc="-514">
                <a:gradFill>
                  <a:gsLst>
                    <a:gs pos="0">
                      <a:srgbClr val="FFFFFF">
                        <a:alpha val="100000"/>
                      </a:srgbClr>
                    </a:gs>
                    <a:gs pos="100000">
                      <a:srgbClr val="8D8D8D">
                        <a:alpha val="100000"/>
                      </a:srgbClr>
                    </a:gs>
                  </a:gsLst>
                  <a:path path="circle">
                    <a:fillToRect l="0" r="100000" t="0" b="100000"/>
                  </a:path>
                  <a:tileRect r="0" l="-100000" b="0" t="-100000"/>
                </a:gradFill>
                <a:latin typeface="Open Sauce Bold"/>
                <a:ea typeface="Open Sauce Bold"/>
                <a:cs typeface="Open Sauce Bold"/>
                <a:sym typeface="Open Sauce Bold"/>
              </a:rPr>
              <a:t>Data</a:t>
            </a:r>
          </a:p>
          <a:p>
            <a:pPr algn="l" marL="0" indent="0" lvl="0">
              <a:lnSpc>
                <a:spcPts val="8488"/>
              </a:lnSpc>
            </a:pPr>
            <a:r>
              <a:rPr lang="en-US" b="true" sz="8574" spc="-514">
                <a:gradFill>
                  <a:gsLst>
                    <a:gs pos="0">
                      <a:srgbClr val="FFFFFF">
                        <a:alpha val="100000"/>
                      </a:srgbClr>
                    </a:gs>
                    <a:gs pos="100000">
                      <a:srgbClr val="8D8D8D">
                        <a:alpha val="100000"/>
                      </a:srgbClr>
                    </a:gs>
                  </a:gsLst>
                  <a:path path="circle">
                    <a:fillToRect l="0" r="100000" t="0" b="100000"/>
                  </a:path>
                  <a:tileRect r="0" l="-100000" b="0" t="-100000"/>
                </a:gradFill>
                <a:latin typeface="Open Sauce Bold"/>
                <a:ea typeface="Open Sauce Bold"/>
                <a:cs typeface="Open Sauce Bold"/>
                <a:sym typeface="Open Sauce Bold"/>
              </a:rPr>
              <a:t> Analysis</a:t>
            </a:r>
          </a:p>
        </p:txBody>
      </p:sp>
      <p:sp>
        <p:nvSpPr>
          <p:cNvPr name="TextBox 30" id="30"/>
          <p:cNvSpPr txBox="true"/>
          <p:nvPr/>
        </p:nvSpPr>
        <p:spPr>
          <a:xfrm rot="0">
            <a:off x="200846" y="1537062"/>
            <a:ext cx="7068393" cy="3526573"/>
          </a:xfrm>
          <a:prstGeom prst="rect">
            <a:avLst/>
          </a:prstGeom>
        </p:spPr>
        <p:txBody>
          <a:bodyPr anchor="t" rtlCol="false" tIns="0" lIns="0" bIns="0" rIns="0">
            <a:spAutoFit/>
          </a:bodyPr>
          <a:lstStyle/>
          <a:p>
            <a:pPr algn="l">
              <a:lnSpc>
                <a:spcPts val="3437"/>
              </a:lnSpc>
            </a:pPr>
            <a:r>
              <a:rPr lang="en-US" b="true" sz="2527" i="true" spc="-139">
                <a:solidFill>
                  <a:srgbClr val="200384"/>
                </a:solidFill>
                <a:latin typeface="DM Sans Bold Italics"/>
                <a:ea typeface="DM Sans Bold Italics"/>
                <a:cs typeface="DM Sans Bold Italics"/>
                <a:sym typeface="DM Sans Bold Italics"/>
              </a:rPr>
              <a:t>Tu</a:t>
            </a:r>
            <a:r>
              <a:rPr lang="en-US" b="true" sz="2527" i="true" spc="-139">
                <a:solidFill>
                  <a:srgbClr val="200384"/>
                </a:solidFill>
                <a:latin typeface="DM Sans Bold Italics"/>
                <a:ea typeface="DM Sans Bold Italics"/>
                <a:cs typeface="DM Sans Bold Italics"/>
                <a:sym typeface="DM Sans Bold Italics"/>
              </a:rPr>
              <a:t>rning Sales Data Into Useful Insights</a:t>
            </a:r>
          </a:p>
          <a:p>
            <a:pPr algn="l">
              <a:lnSpc>
                <a:spcPts val="2077"/>
              </a:lnSpc>
            </a:pPr>
            <a:r>
              <a:rPr lang="en-US" sz="1527" i="true" spc="-84">
                <a:solidFill>
                  <a:srgbClr val="200384"/>
                </a:solidFill>
                <a:latin typeface="DM Sans Italics"/>
                <a:ea typeface="DM Sans Italics"/>
                <a:cs typeface="DM Sans Italics"/>
                <a:sym typeface="DM Sans Italics"/>
              </a:rPr>
              <a:t>Raw business data is not always easy to understand. NeoStock transforms this information into visual insights that allow managers to recognize important patterns more quickly.</a:t>
            </a:r>
          </a:p>
          <a:p>
            <a:pPr algn="l">
              <a:lnSpc>
                <a:spcPts val="3845"/>
              </a:lnSpc>
            </a:pPr>
            <a:r>
              <a:rPr lang="en-US" b="true" sz="2827" i="true" spc="-155">
                <a:solidFill>
                  <a:srgbClr val="200384"/>
                </a:solidFill>
                <a:latin typeface="DM Sans Bold Italics"/>
                <a:ea typeface="DM Sans Bold Italics"/>
                <a:cs typeface="DM Sans Bold Italics"/>
                <a:sym typeface="DM Sans Bold Italics"/>
              </a:rPr>
              <a:t>Sales Trends</a:t>
            </a:r>
          </a:p>
          <a:p>
            <a:pPr algn="l">
              <a:lnSpc>
                <a:spcPts val="2077"/>
              </a:lnSpc>
            </a:pPr>
            <a:r>
              <a:rPr lang="en-US" sz="1527" i="true" spc="-84">
                <a:solidFill>
                  <a:srgbClr val="200384"/>
                </a:solidFill>
                <a:latin typeface="DM Sans Italics"/>
                <a:ea typeface="DM Sans Italics"/>
                <a:cs typeface="DM Sans Italics"/>
                <a:sym typeface="DM Sans Italics"/>
              </a:rPr>
              <a:t>Visual charts help managers understand how sales change over time and identify increases or decreases in product performance.</a:t>
            </a:r>
          </a:p>
          <a:p>
            <a:pPr algn="l">
              <a:lnSpc>
                <a:spcPts val="3862"/>
              </a:lnSpc>
            </a:pPr>
            <a:r>
              <a:rPr lang="en-US" b="true" sz="2840" i="true" spc="-156">
                <a:solidFill>
                  <a:srgbClr val="200384"/>
                </a:solidFill>
                <a:latin typeface="DM Sans Bold Italics"/>
                <a:ea typeface="DM Sans Bold Italics"/>
                <a:cs typeface="DM Sans Bold Italics"/>
                <a:sym typeface="DM Sans Bold Italics"/>
              </a:rPr>
              <a:t>Product Performance</a:t>
            </a:r>
          </a:p>
          <a:p>
            <a:pPr algn="l">
              <a:lnSpc>
                <a:spcPts val="2077"/>
              </a:lnSpc>
            </a:pPr>
            <a:r>
              <a:rPr lang="en-US" sz="1527" i="true" spc="-84">
                <a:solidFill>
                  <a:srgbClr val="200384"/>
                </a:solidFill>
                <a:latin typeface="DM Sans Italics"/>
                <a:ea typeface="DM Sans Italics"/>
                <a:cs typeface="DM Sans Italics"/>
                <a:sym typeface="DM Sans Italics"/>
              </a:rPr>
              <a:t>Products can be compared according to their sales performance, helping managers distinguish between successful and underperforming products.</a:t>
            </a:r>
          </a:p>
          <a:p>
            <a:pPr algn="l">
              <a:lnSpc>
                <a:spcPts val="2626"/>
              </a:lnSpc>
            </a:pPr>
          </a:p>
        </p:txBody>
      </p:sp>
      <p:sp>
        <p:nvSpPr>
          <p:cNvPr name="TextBox 31" id="31"/>
          <p:cNvSpPr txBox="true"/>
          <p:nvPr/>
        </p:nvSpPr>
        <p:spPr>
          <a:xfrm rot="0">
            <a:off x="442876" y="5458632"/>
            <a:ext cx="6453842" cy="3504356"/>
          </a:xfrm>
          <a:prstGeom prst="rect">
            <a:avLst/>
          </a:prstGeom>
        </p:spPr>
        <p:txBody>
          <a:bodyPr anchor="t" rtlCol="false" tIns="0" lIns="0" bIns="0" rIns="0">
            <a:spAutoFit/>
          </a:bodyPr>
          <a:lstStyle/>
          <a:p>
            <a:pPr algn="l">
              <a:lnSpc>
                <a:spcPts val="3183"/>
              </a:lnSpc>
            </a:pPr>
            <a:r>
              <a:rPr lang="en-US" b="true" sz="2340" i="true" spc="-128">
                <a:solidFill>
                  <a:srgbClr val="200384"/>
                </a:solidFill>
                <a:latin typeface="DM Sans Bold Italics"/>
                <a:ea typeface="DM Sans Bold Italics"/>
                <a:cs typeface="DM Sans Bold Italics"/>
                <a:sym typeface="DM Sans Bold Italics"/>
              </a:rPr>
              <a:t>S</a:t>
            </a:r>
            <a:r>
              <a:rPr lang="en-US" b="true" sz="2340" i="true" spc="-128">
                <a:solidFill>
                  <a:srgbClr val="200384"/>
                </a:solidFill>
                <a:latin typeface="DM Sans Bold Italics"/>
                <a:ea typeface="DM Sans Bold Italics"/>
                <a:cs typeface="DM Sans Bold Italics"/>
                <a:sym typeface="DM Sans Bold Italics"/>
              </a:rPr>
              <a:t>low-Moving Products</a:t>
            </a:r>
          </a:p>
          <a:p>
            <a:pPr algn="l">
              <a:lnSpc>
                <a:spcPts val="2204"/>
              </a:lnSpc>
            </a:pPr>
            <a:r>
              <a:rPr lang="en-US" sz="1620" i="true" spc="-89">
                <a:solidFill>
                  <a:srgbClr val="200384"/>
                </a:solidFill>
                <a:latin typeface="DM Sans Italics"/>
                <a:ea typeface="DM Sans Italics"/>
                <a:cs typeface="DM Sans Italics"/>
                <a:sym typeface="DM Sans Italics"/>
              </a:rPr>
              <a:t>NeoStock can help identify products that are not selling as expected and may remain in inventory for too long.</a:t>
            </a:r>
          </a:p>
          <a:p>
            <a:pPr algn="l">
              <a:lnSpc>
                <a:spcPts val="2204"/>
              </a:lnSpc>
            </a:pPr>
            <a:r>
              <a:rPr lang="en-US" b="true" sz="1620" i="true" spc="-89">
                <a:solidFill>
                  <a:srgbClr val="200384"/>
                </a:solidFill>
                <a:latin typeface="DM Sans Bold Italics"/>
                <a:ea typeface="DM Sans Bold Italics"/>
                <a:cs typeface="DM Sans Bold Italics"/>
                <a:sym typeface="DM Sans Bold Italics"/>
              </a:rPr>
              <a:t>Fast-Moving Products</a:t>
            </a:r>
          </a:p>
          <a:p>
            <a:pPr algn="l">
              <a:lnSpc>
                <a:spcPts val="2204"/>
              </a:lnSpc>
            </a:pPr>
            <a:r>
              <a:rPr lang="en-US" sz="1620" i="true" spc="-89">
                <a:solidFill>
                  <a:srgbClr val="200384"/>
                </a:solidFill>
                <a:latin typeface="DM Sans Italics"/>
                <a:ea typeface="DM Sans Italics"/>
                <a:cs typeface="DM Sans Italics"/>
                <a:sym typeface="DM Sans Italics"/>
              </a:rPr>
              <a:t>Products with strong sales performance can be identified, helping managers pay attention to demand and inventory levels.</a:t>
            </a:r>
          </a:p>
          <a:p>
            <a:pPr algn="l">
              <a:lnSpc>
                <a:spcPts val="2938"/>
              </a:lnSpc>
            </a:pPr>
            <a:r>
              <a:rPr lang="en-US" b="true" sz="2160" i="true" spc="-118">
                <a:solidFill>
                  <a:srgbClr val="200384"/>
                </a:solidFill>
                <a:latin typeface="DM Sans Bold Italics"/>
                <a:ea typeface="DM Sans Bold Italics"/>
                <a:cs typeface="DM Sans Bold Italics"/>
                <a:sym typeface="DM Sans Bold Italics"/>
              </a:rPr>
              <a:t>Why this matters</a:t>
            </a:r>
          </a:p>
          <a:p>
            <a:pPr algn="l">
              <a:lnSpc>
                <a:spcPts val="2204"/>
              </a:lnSpc>
            </a:pPr>
            <a:r>
              <a:rPr lang="en-US" sz="1620" i="true" spc="-89">
                <a:solidFill>
                  <a:srgbClr val="200384"/>
                </a:solidFill>
                <a:latin typeface="DM Sans Italics"/>
                <a:ea typeface="DM Sans Italics"/>
                <a:cs typeface="DM Sans Italics"/>
                <a:sym typeface="DM Sans Italics"/>
              </a:rPr>
              <a:t>Instead of asking:</a:t>
            </a:r>
          </a:p>
          <a:p>
            <a:pPr algn="l">
              <a:lnSpc>
                <a:spcPts val="2204"/>
              </a:lnSpc>
            </a:pPr>
            <a:r>
              <a:rPr lang="en-US" sz="1620" i="true" spc="-89">
                <a:solidFill>
                  <a:srgbClr val="200384"/>
                </a:solidFill>
                <a:latin typeface="DM Sans Italics"/>
                <a:ea typeface="DM Sans Italics"/>
                <a:cs typeface="DM Sans Italics"/>
                <a:sym typeface="DM Sans Italics"/>
              </a:rPr>
              <a:t>“What is happening with our stock?”</a:t>
            </a:r>
          </a:p>
          <a:p>
            <a:pPr algn="l">
              <a:lnSpc>
                <a:spcPts val="2204"/>
              </a:lnSpc>
            </a:pPr>
            <a:r>
              <a:rPr lang="en-US" sz="1620" i="true" spc="-89">
                <a:solidFill>
                  <a:srgbClr val="200384"/>
                </a:solidFill>
                <a:latin typeface="DM Sans Italics"/>
                <a:ea typeface="DM Sans Italics"/>
                <a:cs typeface="DM Sans Italics"/>
                <a:sym typeface="DM Sans Italics"/>
              </a:rPr>
              <a:t>The manager can move toward:</a:t>
            </a:r>
          </a:p>
          <a:p>
            <a:pPr algn="l">
              <a:lnSpc>
                <a:spcPts val="2204"/>
              </a:lnSpc>
            </a:pPr>
            <a:r>
              <a:rPr lang="en-US" sz="1620" i="true" spc="-89">
                <a:solidFill>
                  <a:srgbClr val="200384"/>
                </a:solidFill>
                <a:latin typeface="DM Sans Italics"/>
                <a:ea typeface="DM Sans Italics"/>
                <a:cs typeface="DM Sans Italics"/>
                <a:sym typeface="DM Sans Italics"/>
              </a:rPr>
              <a:t>“Why is it happening, and what should we consider doing?”</a:t>
            </a:r>
          </a:p>
          <a:p>
            <a:pPr algn="l">
              <a:lnSpc>
                <a:spcPts val="2204"/>
              </a:lnSpc>
            </a:pP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1F3129"/>
        </a:solidFill>
      </p:bgPr>
    </p:bg>
    <p:spTree>
      <p:nvGrpSpPr>
        <p:cNvPr id="1" name=""/>
        <p:cNvGrpSpPr/>
        <p:nvPr/>
      </p:nvGrpSpPr>
      <p:grpSpPr>
        <a:xfrm>
          <a:off x="0" y="0"/>
          <a:ext cx="0" cy="0"/>
          <a:chOff x="0" y="0"/>
          <a:chExt cx="0" cy="0"/>
        </a:xfrm>
      </p:grpSpPr>
      <p:grpSp>
        <p:nvGrpSpPr>
          <p:cNvPr name="Group 2" id="2"/>
          <p:cNvGrpSpPr/>
          <p:nvPr/>
        </p:nvGrpSpPr>
        <p:grpSpPr>
          <a:xfrm rot="0">
            <a:off x="1633258" y="-674171"/>
            <a:ext cx="14375588" cy="11819883"/>
            <a:chOff x="0" y="0"/>
            <a:chExt cx="19167451" cy="15759844"/>
          </a:xfrm>
        </p:grpSpPr>
        <p:sp>
          <p:nvSpPr>
            <p:cNvPr name="AutoShape 3" id="3"/>
            <p:cNvSpPr/>
            <p:nvPr/>
          </p:nvSpPr>
          <p:spPr>
            <a:xfrm flipV="true">
              <a:off x="12700" y="0"/>
              <a:ext cx="0" cy="15759844"/>
            </a:xfrm>
            <a:prstGeom prst="line">
              <a:avLst/>
            </a:prstGeom>
            <a:ln cap="flat" w="25400">
              <a:solidFill>
                <a:srgbClr val="079E5A">
                  <a:alpha val="11765"/>
                </a:srgbClr>
              </a:solidFill>
              <a:prstDash val="solid"/>
              <a:headEnd type="none" len="sm" w="sm"/>
              <a:tailEnd type="none" len="sm" w="sm"/>
            </a:ln>
          </p:spPr>
        </p:sp>
        <p:sp>
          <p:nvSpPr>
            <p:cNvPr name="AutoShape 4" id="4"/>
            <p:cNvSpPr/>
            <p:nvPr/>
          </p:nvSpPr>
          <p:spPr>
            <a:xfrm flipV="true">
              <a:off x="1752886" y="0"/>
              <a:ext cx="0" cy="15759844"/>
            </a:xfrm>
            <a:prstGeom prst="line">
              <a:avLst/>
            </a:prstGeom>
            <a:ln cap="flat" w="25400">
              <a:solidFill>
                <a:srgbClr val="079E5A">
                  <a:alpha val="11765"/>
                </a:srgbClr>
              </a:solidFill>
              <a:prstDash val="solid"/>
              <a:headEnd type="none" len="sm" w="sm"/>
              <a:tailEnd type="none" len="sm" w="sm"/>
            </a:ln>
          </p:spPr>
        </p:sp>
        <p:sp>
          <p:nvSpPr>
            <p:cNvPr name="AutoShape 5" id="5"/>
            <p:cNvSpPr/>
            <p:nvPr/>
          </p:nvSpPr>
          <p:spPr>
            <a:xfrm flipV="true">
              <a:off x="3493073" y="0"/>
              <a:ext cx="0" cy="15759844"/>
            </a:xfrm>
            <a:prstGeom prst="line">
              <a:avLst/>
            </a:prstGeom>
            <a:ln cap="flat" w="25400">
              <a:solidFill>
                <a:srgbClr val="079E5A">
                  <a:alpha val="11765"/>
                </a:srgbClr>
              </a:solidFill>
              <a:prstDash val="solid"/>
              <a:headEnd type="none" len="sm" w="sm"/>
              <a:tailEnd type="none" len="sm" w="sm"/>
            </a:ln>
          </p:spPr>
        </p:sp>
        <p:sp>
          <p:nvSpPr>
            <p:cNvPr name="AutoShape 6" id="6"/>
            <p:cNvSpPr/>
            <p:nvPr/>
          </p:nvSpPr>
          <p:spPr>
            <a:xfrm flipV="true">
              <a:off x="5233259" y="0"/>
              <a:ext cx="0" cy="15759844"/>
            </a:xfrm>
            <a:prstGeom prst="line">
              <a:avLst/>
            </a:prstGeom>
            <a:ln cap="flat" w="25400">
              <a:solidFill>
                <a:srgbClr val="079E5A">
                  <a:alpha val="11765"/>
                </a:srgbClr>
              </a:solidFill>
              <a:prstDash val="solid"/>
              <a:headEnd type="none" len="sm" w="sm"/>
              <a:tailEnd type="none" len="sm" w="sm"/>
            </a:ln>
          </p:spPr>
        </p:sp>
        <p:sp>
          <p:nvSpPr>
            <p:cNvPr name="AutoShape 7" id="7"/>
            <p:cNvSpPr/>
            <p:nvPr/>
          </p:nvSpPr>
          <p:spPr>
            <a:xfrm flipV="true">
              <a:off x="6973446" y="0"/>
              <a:ext cx="0" cy="15759844"/>
            </a:xfrm>
            <a:prstGeom prst="line">
              <a:avLst/>
            </a:prstGeom>
            <a:ln cap="flat" w="25400">
              <a:solidFill>
                <a:srgbClr val="079E5A">
                  <a:alpha val="11765"/>
                </a:srgbClr>
              </a:solidFill>
              <a:prstDash val="solid"/>
              <a:headEnd type="none" len="sm" w="sm"/>
              <a:tailEnd type="none" len="sm" w="sm"/>
            </a:ln>
          </p:spPr>
        </p:sp>
        <p:sp>
          <p:nvSpPr>
            <p:cNvPr name="AutoShape 8" id="8"/>
            <p:cNvSpPr/>
            <p:nvPr/>
          </p:nvSpPr>
          <p:spPr>
            <a:xfrm flipV="true">
              <a:off x="8713632" y="0"/>
              <a:ext cx="0" cy="15759844"/>
            </a:xfrm>
            <a:prstGeom prst="line">
              <a:avLst/>
            </a:prstGeom>
            <a:ln cap="flat" w="25400">
              <a:solidFill>
                <a:srgbClr val="079E5A">
                  <a:alpha val="11765"/>
                </a:srgbClr>
              </a:solidFill>
              <a:prstDash val="solid"/>
              <a:headEnd type="none" len="sm" w="sm"/>
              <a:tailEnd type="none" len="sm" w="sm"/>
            </a:ln>
          </p:spPr>
        </p:sp>
        <p:sp>
          <p:nvSpPr>
            <p:cNvPr name="AutoShape 9" id="9"/>
            <p:cNvSpPr/>
            <p:nvPr/>
          </p:nvSpPr>
          <p:spPr>
            <a:xfrm flipV="true">
              <a:off x="10453819" y="0"/>
              <a:ext cx="0" cy="15759844"/>
            </a:xfrm>
            <a:prstGeom prst="line">
              <a:avLst/>
            </a:prstGeom>
            <a:ln cap="flat" w="25400">
              <a:solidFill>
                <a:srgbClr val="079E5A">
                  <a:alpha val="11765"/>
                </a:srgbClr>
              </a:solidFill>
              <a:prstDash val="solid"/>
              <a:headEnd type="none" len="sm" w="sm"/>
              <a:tailEnd type="none" len="sm" w="sm"/>
            </a:ln>
          </p:spPr>
        </p:sp>
        <p:sp>
          <p:nvSpPr>
            <p:cNvPr name="AutoShape 10" id="10"/>
            <p:cNvSpPr/>
            <p:nvPr/>
          </p:nvSpPr>
          <p:spPr>
            <a:xfrm flipV="true">
              <a:off x="12194005" y="0"/>
              <a:ext cx="0" cy="15759844"/>
            </a:xfrm>
            <a:prstGeom prst="line">
              <a:avLst/>
            </a:prstGeom>
            <a:ln cap="flat" w="25400">
              <a:solidFill>
                <a:srgbClr val="079E5A">
                  <a:alpha val="11765"/>
                </a:srgbClr>
              </a:solidFill>
              <a:prstDash val="solid"/>
              <a:headEnd type="none" len="sm" w="sm"/>
              <a:tailEnd type="none" len="sm" w="sm"/>
            </a:ln>
          </p:spPr>
        </p:sp>
        <p:sp>
          <p:nvSpPr>
            <p:cNvPr name="AutoShape 11" id="11"/>
            <p:cNvSpPr/>
            <p:nvPr/>
          </p:nvSpPr>
          <p:spPr>
            <a:xfrm flipV="true">
              <a:off x="13934192" y="0"/>
              <a:ext cx="0" cy="15759844"/>
            </a:xfrm>
            <a:prstGeom prst="line">
              <a:avLst/>
            </a:prstGeom>
            <a:ln cap="flat" w="25400">
              <a:solidFill>
                <a:srgbClr val="079E5A">
                  <a:alpha val="11765"/>
                </a:srgbClr>
              </a:solidFill>
              <a:prstDash val="solid"/>
              <a:headEnd type="none" len="sm" w="sm"/>
              <a:tailEnd type="none" len="sm" w="sm"/>
            </a:ln>
          </p:spPr>
        </p:sp>
        <p:sp>
          <p:nvSpPr>
            <p:cNvPr name="AutoShape 12" id="12"/>
            <p:cNvSpPr/>
            <p:nvPr/>
          </p:nvSpPr>
          <p:spPr>
            <a:xfrm flipV="true">
              <a:off x="15674378" y="0"/>
              <a:ext cx="0" cy="15759844"/>
            </a:xfrm>
            <a:prstGeom prst="line">
              <a:avLst/>
            </a:prstGeom>
            <a:ln cap="flat" w="25400">
              <a:solidFill>
                <a:srgbClr val="079E5A">
                  <a:alpha val="11765"/>
                </a:srgbClr>
              </a:solidFill>
              <a:prstDash val="solid"/>
              <a:headEnd type="none" len="sm" w="sm"/>
              <a:tailEnd type="none" len="sm" w="sm"/>
            </a:ln>
          </p:spPr>
        </p:sp>
        <p:sp>
          <p:nvSpPr>
            <p:cNvPr name="AutoShape 13" id="13"/>
            <p:cNvSpPr/>
            <p:nvPr/>
          </p:nvSpPr>
          <p:spPr>
            <a:xfrm flipV="true">
              <a:off x="17414564" y="0"/>
              <a:ext cx="0" cy="15759844"/>
            </a:xfrm>
            <a:prstGeom prst="line">
              <a:avLst/>
            </a:prstGeom>
            <a:ln cap="flat" w="25400">
              <a:solidFill>
                <a:srgbClr val="079E5A">
                  <a:alpha val="11765"/>
                </a:srgbClr>
              </a:solidFill>
              <a:prstDash val="solid"/>
              <a:headEnd type="none" len="sm" w="sm"/>
              <a:tailEnd type="none" len="sm" w="sm"/>
            </a:ln>
          </p:spPr>
        </p:sp>
        <p:sp>
          <p:nvSpPr>
            <p:cNvPr name="AutoShape 14" id="14"/>
            <p:cNvSpPr/>
            <p:nvPr/>
          </p:nvSpPr>
          <p:spPr>
            <a:xfrm flipV="true">
              <a:off x="19154751" y="0"/>
              <a:ext cx="0" cy="15759844"/>
            </a:xfrm>
            <a:prstGeom prst="line">
              <a:avLst/>
            </a:prstGeom>
            <a:ln cap="flat" w="25400">
              <a:solidFill>
                <a:srgbClr val="079E5A">
                  <a:alpha val="11765"/>
                </a:srgbClr>
              </a:solidFill>
              <a:prstDash val="solid"/>
              <a:headEnd type="none" len="sm" w="sm"/>
              <a:tailEnd type="none" len="sm" w="sm"/>
            </a:ln>
          </p:spPr>
        </p:sp>
      </p:grpSp>
      <p:grpSp>
        <p:nvGrpSpPr>
          <p:cNvPr name="Group 15" id="15"/>
          <p:cNvGrpSpPr/>
          <p:nvPr/>
        </p:nvGrpSpPr>
        <p:grpSpPr>
          <a:xfrm rot="0">
            <a:off x="7345543" y="3169477"/>
            <a:ext cx="18945897" cy="1894589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0342028" y="-11457159"/>
            <a:ext cx="18945897" cy="1894589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9E5A"/>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21" id="21"/>
          <p:cNvSpPr txBox="true"/>
          <p:nvPr/>
        </p:nvSpPr>
        <p:spPr>
          <a:xfrm rot="0">
            <a:off x="1542254" y="470169"/>
            <a:ext cx="11266664" cy="1952504"/>
          </a:xfrm>
          <a:prstGeom prst="rect">
            <a:avLst/>
          </a:prstGeom>
        </p:spPr>
        <p:txBody>
          <a:bodyPr anchor="t" rtlCol="false" tIns="0" lIns="0" bIns="0" rIns="0">
            <a:spAutoFit/>
          </a:bodyPr>
          <a:lstStyle/>
          <a:p>
            <a:pPr algn="l" marL="0" indent="0" lvl="0">
              <a:lnSpc>
                <a:spcPts val="14686"/>
              </a:lnSpc>
            </a:pPr>
            <a:r>
              <a:rPr lang="en-US" b="true" sz="14834" spc="-890">
                <a:gradFill>
                  <a:gsLst>
                    <a:gs pos="0">
                      <a:srgbClr val="FFFFFF">
                        <a:alpha val="100000"/>
                      </a:srgbClr>
                    </a:gs>
                    <a:gs pos="100000">
                      <a:srgbClr val="8D8D8D">
                        <a:alpha val="100000"/>
                      </a:srgbClr>
                    </a:gs>
                  </a:gsLst>
                  <a:path path="circle">
                    <a:fillToRect l="0" r="100000" t="0" b="100000"/>
                  </a:path>
                  <a:tileRect r="0" l="-100000" b="0" t="-100000"/>
                </a:gradFill>
                <a:latin typeface="Open Sauce Bold"/>
                <a:ea typeface="Open Sauce Bold"/>
                <a:cs typeface="Open Sauce Bold"/>
                <a:sym typeface="Open Sauce Bold"/>
              </a:rPr>
              <a:t>thank you</a:t>
            </a:r>
          </a:p>
        </p:txBody>
      </p:sp>
      <p:sp>
        <p:nvSpPr>
          <p:cNvPr name="TextBox 22" id="22"/>
          <p:cNvSpPr txBox="true"/>
          <p:nvPr/>
        </p:nvSpPr>
        <p:spPr>
          <a:xfrm rot="0">
            <a:off x="1026403" y="2566730"/>
            <a:ext cx="16256589" cy="5678491"/>
          </a:xfrm>
          <a:prstGeom prst="rect">
            <a:avLst/>
          </a:prstGeom>
        </p:spPr>
        <p:txBody>
          <a:bodyPr anchor="t" rtlCol="false" tIns="0" lIns="0" bIns="0" rIns="0">
            <a:spAutoFit/>
          </a:bodyPr>
          <a:lstStyle/>
          <a:p>
            <a:pPr algn="l">
              <a:lnSpc>
                <a:spcPts val="9018"/>
              </a:lnSpc>
            </a:pPr>
            <a:r>
              <a:rPr lang="en-US" b="true" sz="9109" spc="-546">
                <a:gradFill>
                  <a:gsLst>
                    <a:gs pos="0">
                      <a:srgbClr val="FFFFFF">
                        <a:alpha val="100000"/>
                      </a:srgbClr>
                    </a:gs>
                    <a:gs pos="100000">
                      <a:srgbClr val="8D8D8D">
                        <a:alpha val="100000"/>
                      </a:srgbClr>
                    </a:gs>
                  </a:gsLst>
                  <a:path path="circle">
                    <a:fillToRect l="0" r="100000" t="0" b="100000"/>
                  </a:path>
                  <a:tileRect r="0" l="-100000" b="0" t="-100000"/>
                </a:gradFill>
                <a:latin typeface="Open Sauce Bold"/>
                <a:ea typeface="Open Sauce Bold"/>
                <a:cs typeface="Open Sauce Bold"/>
                <a:sym typeface="Open Sauce Bold"/>
              </a:rPr>
              <a:t>project makers : </a:t>
            </a:r>
          </a:p>
          <a:p>
            <a:pPr algn="l">
              <a:lnSpc>
                <a:spcPts val="5949"/>
              </a:lnSpc>
            </a:pPr>
            <a:r>
              <a:rPr lang="en-US" b="true" sz="6009" spc="-360">
                <a:gradFill>
                  <a:gsLst>
                    <a:gs pos="0">
                      <a:srgbClr val="FFFFFF">
                        <a:alpha val="100000"/>
                      </a:srgbClr>
                    </a:gs>
                    <a:gs pos="100000">
                      <a:srgbClr val="8D8D8D">
                        <a:alpha val="100000"/>
                      </a:srgbClr>
                    </a:gs>
                  </a:gsLst>
                  <a:path path="circle">
                    <a:fillToRect l="0" r="100000" t="0" b="100000"/>
                  </a:path>
                  <a:tileRect r="0" l="-100000" b="0" t="-100000"/>
                </a:gradFill>
                <a:latin typeface="Open Sauce Bold"/>
                <a:ea typeface="Open Sauce Bold"/>
                <a:cs typeface="Open Sauce Bold"/>
                <a:sym typeface="Open Sauce Bold"/>
              </a:rPr>
              <a:t>chahine askri : product and strategy manager</a:t>
            </a:r>
          </a:p>
          <a:p>
            <a:pPr algn="l">
              <a:lnSpc>
                <a:spcPts val="5949"/>
              </a:lnSpc>
            </a:pPr>
          </a:p>
          <a:p>
            <a:pPr algn="l">
              <a:lnSpc>
                <a:spcPts val="5949"/>
              </a:lnSpc>
            </a:pPr>
            <a:r>
              <a:rPr lang="en-US" b="true" sz="6009" spc="-360">
                <a:gradFill>
                  <a:gsLst>
                    <a:gs pos="0">
                      <a:srgbClr val="FFFFFF">
                        <a:alpha val="100000"/>
                      </a:srgbClr>
                    </a:gs>
                    <a:gs pos="100000">
                      <a:srgbClr val="8D8D8D">
                        <a:alpha val="100000"/>
                      </a:srgbClr>
                    </a:gs>
                  </a:gsLst>
                  <a:path path="circle">
                    <a:fillToRect l="0" r="100000" t="0" b="100000"/>
                  </a:path>
                  <a:tileRect r="0" l="-100000" b="0" t="-100000"/>
                </a:gradFill>
                <a:latin typeface="Open Sauce Bold"/>
                <a:ea typeface="Open Sauce Bold"/>
                <a:cs typeface="Open Sauce Bold"/>
                <a:sym typeface="Open Sauce Bold"/>
              </a:rPr>
              <a:t>wael saadallah : presentation and video voice editor </a:t>
            </a:r>
          </a:p>
          <a:p>
            <a:pPr algn="l">
              <a:lnSpc>
                <a:spcPts val="5949"/>
              </a:lnSpc>
            </a:pPr>
          </a:p>
          <a:p>
            <a:pPr algn="l">
              <a:lnSpc>
                <a:spcPts val="5949"/>
              </a:lnSpc>
            </a:pPr>
            <a:r>
              <a:rPr lang="en-US" b="true" sz="6009" spc="-360">
                <a:gradFill>
                  <a:gsLst>
                    <a:gs pos="0">
                      <a:srgbClr val="FFFFFF">
                        <a:alpha val="100000"/>
                      </a:srgbClr>
                    </a:gs>
                    <a:gs pos="100000">
                      <a:srgbClr val="8D8D8D">
                        <a:alpha val="100000"/>
                      </a:srgbClr>
                    </a:gs>
                  </a:gsLst>
                  <a:path path="circle">
                    <a:fillToRect l="0" r="100000" t="0" b="100000"/>
                  </a:path>
                  <a:tileRect r="0" l="-100000" b="0" t="-100000"/>
                </a:gradFill>
                <a:latin typeface="Open Sauce Bold"/>
                <a:ea typeface="Open Sauce Bold"/>
                <a:cs typeface="Open Sauce Bold"/>
                <a:sym typeface="Open Sauce Bold"/>
              </a:rPr>
              <a:t>yousri rais : whole app developer &amp; video editor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DAHWZg5kHtk</dc:identifier>
  <dcterms:modified xsi:type="dcterms:W3CDTF">2011-08-01T06:04:30Z</dcterms:modified>
  <cp:revision>1</cp:revision>
  <dc:title>Larana Company</dc:title>
</cp:coreProperties>
</file>